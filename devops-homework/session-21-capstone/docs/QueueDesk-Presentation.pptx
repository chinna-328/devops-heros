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db49e1fbaf4275" /><Relationship Type="http://schemas.openxmlformats.org/officeDocument/2006/relationships/extended-properties" Target="/docProps/app.xml" Id="R020f18d19edd4c59" /><Relationship Type="http://schemas.openxmlformats.org/officeDocument/2006/relationships/officeDocument" Target="/ppt/presentation.xml" Id="Rfc0d4fdf6fe34cf9" /></Relationships>
</file>

<file path=ppt/presentation.xml><?xml version="1.0" encoding="utf-8"?>
<p:presentation xmlns:p="http://schemas.openxmlformats.org/presentationml/2006/main">
  <p:sldMasterIdLst>
    <p:sldMasterId xmlns:r="http://schemas.openxmlformats.org/officeDocument/2006/relationships" id="2147483648" r:id="Rbb3c42a5cd554aa7"/>
  </p:sldMasterIdLst>
  <p:notesMasterIdLst>
    <p:notesMasterId xmlns:r="http://schemas.openxmlformats.org/officeDocument/2006/relationships" r:id="Rac0d7b753fe44517"/>
  </p:notesMasterIdLst>
  <p:sldIdLst>
    <p:sldId xmlns:r="http://schemas.openxmlformats.org/officeDocument/2006/relationships" id="256" r:id="R70baa423a94f407a"/>
    <p:sldId xmlns:r="http://schemas.openxmlformats.org/officeDocument/2006/relationships" id="257" r:id="R92a4669db6274a18"/>
    <p:sldId xmlns:r="http://schemas.openxmlformats.org/officeDocument/2006/relationships" id="258" r:id="Rfa762d4ef602408e"/>
    <p:sldId xmlns:r="http://schemas.openxmlformats.org/officeDocument/2006/relationships" id="259" r:id="R33412f90f6f943e6"/>
    <p:sldId xmlns:r="http://schemas.openxmlformats.org/officeDocument/2006/relationships" id="260" r:id="R1baaeef39f904362"/>
    <p:sldId xmlns:r="http://schemas.openxmlformats.org/officeDocument/2006/relationships" id="261" r:id="Reabdf2c0fe7e4b00"/>
    <p:sldId xmlns:r="http://schemas.openxmlformats.org/officeDocument/2006/relationships" id="262" r:id="Rbda5fe0e3a2849bd"/>
    <p:sldId xmlns:r="http://schemas.openxmlformats.org/officeDocument/2006/relationships" id="263" r:id="Rd8f5c764df644cb0"/>
    <p:sldId xmlns:r="http://schemas.openxmlformats.org/officeDocument/2006/relationships" id="264" r:id="Rb67a54a839ad4f33"/>
    <p:sldId xmlns:r="http://schemas.openxmlformats.org/officeDocument/2006/relationships" id="265" r:id="R29da04ee0b914157"/>
    <p:sldId xmlns:r="http://schemas.openxmlformats.org/officeDocument/2006/relationships" id="266" r:id="R938bc81d5d884cd7"/>
    <p:sldId xmlns:r="http://schemas.openxmlformats.org/officeDocument/2006/relationships" id="267" r:id="R13c64394a3554c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8e76b56c23470a" /><Relationship Type="http://schemas.openxmlformats.org/officeDocument/2006/relationships/slideMaster" Target="/ppt/slideMasters/slideMaster1.xml" Id="Rbb3c42a5cd554aa7" /><Relationship Type="http://schemas.openxmlformats.org/officeDocument/2006/relationships/notesMaster" Target="/ppt/notesMasters/notesMaster1.xml" Id="Rac0d7b753fe44517" /><Relationship Type="http://schemas.openxmlformats.org/officeDocument/2006/relationships/presProps" Target="/ppt/presProps.xml" Id="Rcabbe715dd4040af" /><Relationship Type="http://schemas.openxmlformats.org/officeDocument/2006/relationships/tableStyles" Target="/ppt/tableStyles.xml" Id="R1e683d2e171b4be2" /><Relationship Type="http://schemas.openxmlformats.org/officeDocument/2006/relationships/slide" Target="/ppt/slides/slide1.xml" Id="R70baa423a94f407a" /><Relationship Type="http://schemas.openxmlformats.org/officeDocument/2006/relationships/slide" Target="/ppt/slides/slide2.xml" Id="R92a4669db6274a18" /><Relationship Type="http://schemas.openxmlformats.org/officeDocument/2006/relationships/slide" Target="/ppt/slides/slide3.xml" Id="Rfa762d4ef602408e" /><Relationship Type="http://schemas.openxmlformats.org/officeDocument/2006/relationships/slide" Target="/ppt/slides/slide4.xml" Id="R33412f90f6f943e6" /><Relationship Type="http://schemas.openxmlformats.org/officeDocument/2006/relationships/slide" Target="/ppt/slides/slide5.xml" Id="R1baaeef39f904362" /><Relationship Type="http://schemas.openxmlformats.org/officeDocument/2006/relationships/slide" Target="/ppt/slides/slide6.xml" Id="Reabdf2c0fe7e4b00" /><Relationship Type="http://schemas.openxmlformats.org/officeDocument/2006/relationships/slide" Target="/ppt/slides/slide7.xml" Id="Rbda5fe0e3a2849bd" /><Relationship Type="http://schemas.openxmlformats.org/officeDocument/2006/relationships/slide" Target="/ppt/slides/slide8.xml" Id="Rd8f5c764df644cb0" /><Relationship Type="http://schemas.openxmlformats.org/officeDocument/2006/relationships/slide" Target="/ppt/slides/slide9.xml" Id="Rb67a54a839ad4f33" /><Relationship Type="http://schemas.openxmlformats.org/officeDocument/2006/relationships/slide" Target="/ppt/slides/slide10.xml" Id="R29da04ee0b914157" /><Relationship Type="http://schemas.openxmlformats.org/officeDocument/2006/relationships/slide" Target="/ppt/slides/slide11.xml" Id="R938bc81d5d884cd7" /><Relationship Type="http://schemas.openxmlformats.org/officeDocument/2006/relationships/slide" Target="/ppt/slides/slide12.xml" Id="R13c64394a3554c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405e5e8b8447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7db0c5bbe646db" /><Relationship Type="http://schemas.openxmlformats.org/officeDocument/2006/relationships/notesMaster" Target="/ppt/notesMasters/notesMaster1.xml" Id="R6ee53eac2f0b48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25b60737904d15" /><Relationship Type="http://schemas.openxmlformats.org/officeDocument/2006/relationships/notesMaster" Target="/ppt/notesMasters/notesMaster1.xml" Id="Rf23c82593eb14f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0af703679b48b9" /><Relationship Type="http://schemas.openxmlformats.org/officeDocument/2006/relationships/notesMaster" Target="/ppt/notesMasters/notesMaster1.xml" Id="R951732de78f348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9535968e674d50" /><Relationship Type="http://schemas.openxmlformats.org/officeDocument/2006/relationships/notesMaster" Target="/ppt/notesMasters/notesMaster1.xml" Id="R340713b4c00642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37fe72caee4ee5" /><Relationship Type="http://schemas.openxmlformats.org/officeDocument/2006/relationships/notesMaster" Target="/ppt/notesMasters/notesMaster1.xml" Id="R355bd6de52284b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0187eb37c04925" /><Relationship Type="http://schemas.openxmlformats.org/officeDocument/2006/relationships/notesMaster" Target="/ppt/notesMasters/notesMaster1.xml" Id="Raab0b55c591e49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945972b9c44ee0" /><Relationship Type="http://schemas.openxmlformats.org/officeDocument/2006/relationships/notesMaster" Target="/ppt/notesMasters/notesMaster1.xml" Id="R764c3d46ffea4b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ddfc71c2cd4c41" /><Relationship Type="http://schemas.openxmlformats.org/officeDocument/2006/relationships/notesMaster" Target="/ppt/notesMasters/notesMaster1.xml" Id="R93b16d749c6d4d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251bf5cf344035" /><Relationship Type="http://schemas.openxmlformats.org/officeDocument/2006/relationships/notesMaster" Target="/ppt/notesMasters/notesMaster1.xml" Id="R01ba960a4d3a40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32899ec3814268" /><Relationship Type="http://schemas.openxmlformats.org/officeDocument/2006/relationships/notesMaster" Target="/ppt/notesMasters/notesMaster1.xml" Id="R3b55f0ace4794b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5506c8b29b4e66" /><Relationship Type="http://schemas.openxmlformats.org/officeDocument/2006/relationships/notesMaster" Target="/ppt/notesMasters/notesMaster1.xml" Id="R89678f8b950f4a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19eb30c8144c44" /><Relationship Type="http://schemas.openxmlformats.org/officeDocument/2006/relationships/notesMaster" Target="/ppt/notesMasters/notesMaster1.xml" Id="R5bf6794d04064a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repository: https://github.com/chinna-328/Devops-capstone-project</a:t>
            </a:r>
          </a:p>
          <a:p xmlns:a="http://schemas.openxmlformats.org/drawingml/2006/main">
            <a:r>
              <a:t>Presenter: Guna Sai Kumar.</a:t>
            </a:r>
          </a:p>
          <a:p xmlns:a="http://schemas.openxmlformats.org/drawingml/2006/main">
            <a:r>
              <a:t>Introduce QueueDesk as a support ticket tracker. The project includes a working local Docker stack, automated validation, and infrastructure configuration. AWS deployment and live monitoring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https://github.com/chinna-328/Devops-capstone-project/blob/main/frontend/src/App.jsx and frontend/src/components/TicketDialog.jsx.</a:t>
            </a:r>
          </a:p>
          <a:p xmlns:a="http://schemas.openxmlformats.org/drawingml/2006/main">
            <a:r>
              <a:t>Image: thumbnail from the user-provided Loom recording, https://www.loom.com/share/e109ef51b28045adabcc391b8813617a. The image shows the local application.</a:t>
            </a:r>
          </a:p>
          <a:p xmlns:a="http://schemas.openxmlformats.org/drawingml/2006/main">
            <a:r>
              <a:t>Demonstrate creation, assignment, priority changes, search, filtering and deletion using sample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https://github.com/chinna-328/Devops-capstone-project/blob/main/docker-compose.yml, backend/app/main.py, backend/app/models.py, frontend/nginx.conf and backend/alembic/versions/0001_tickets.py.</a:t>
            </a:r>
          </a:p>
          <a:p xmlns:a="http://schemas.openxmlformats.org/drawingml/2006/main">
            <a:r>
              <a:t>The frontend sends API calls through Nginx. FastAPI uses SQLAlchemy to access PostgreSQL. The migration service finishes before the backend starts.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https://github.com/chinna-328/Devops-capstone-project/blob/main/backend/app/main.py, backend/app/models.py, backend/app/schemas.py and backend/alembic/versions/0001_tickets.py.</a:t>
            </a:r>
          </a:p>
          <a:p xmlns:a="http://schemas.openxmlformats.org/drawingml/2006/main">
            <a:r>
              <a:t>Additional endpoints include GET /api/tickets/stats, GET /health, GET /ready and GET /metrics.</a:t>
            </a:r>
          </a:p>
          <a:p xmlns:a="http://schemas.openxmlformats.org/drawingml/2006/main">
            <a:r>
              <a:t>The ticket model includes a primary key, timestamps, assignee, requester, priority and status. Swagger UI is available at /docs.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https://github.com/chinna-328/Devops-capstone-project/blob/main/docker-compose.yml.</a:t>
            </a:r>
          </a:p>
          <a:p xmlns:a="http://schemas.openxmlformats.org/drawingml/2006/main">
            <a:r>
              <a:t>Run from the repository root. BACKEND_PORT=18001 matches the demonstrated local setup. The frontend normally uses port 3000 and the backend defaults to 8000 without this override.</a:t>
            </a:r>
          </a:p>
          <a:p xmlns:a="http://schemas.openxmlformats.org/drawingml/2006/main">
            <a:r>
              <a:t>The user reported healthy PostgreSQL, backend and frontend containers and a migration service with exit code 0. docker compose down retains the named database volume.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https://github.com/chinna-328/Devops-capstone-project/blob/main/backend/tests/test_api.py, backend/tests/test_migrations.py, backend/tests/conftest.py and evidence/validation.txt.</a:t>
            </a:r>
          </a:p>
          <a:p xmlns:a="http://schemas.openxmlformats.org/drawingml/2006/main">
            <a:r>
              <a:t>The recorded verification reports 18 tests passing with SQLite and PostgreSQL, including the replacement Alpine backend image. The user also supplied successful /health and /ready responses. These are verified local/test results, not AWS availability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https://github.com/chinna-328/Devops-capstone-project/blob/main/.github/workflows/ci-cd.yml and https://github.com/chinna-328/Devops-capstone-project/actions/runs/39039931989.</a:t>
            </a:r>
          </a:p>
          <a:p xmlns:a="http://schemas.openxmlformats.org/drawingml/2006/main">
            <a:r>
              <a:t>Last verified successful run: 39039931989. The test job and build-scan-publish job succeeded. The AWS deploy job was skipped. The workflow publishes both images with full commit SHA tags only after both Trivy scans pass.</a:t>
            </a:r>
          </a:p>
          <a:p xmlns:a="http://schemas.openxmlformats.org/drawingml/2006/main">
            <a:r>
              <a:t>Local scan evidence in docs/troubleshooting.md and evidence/validation.txt records 44 HIGH findings in the original Debian backend base and zero HIGH/CRITICAL findings in the Alpine replacement on October 17, 2026. This is a historical scan result, not a permanent security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https://github.com/chinna-328/Devops-capstone-project/blob/main/terraform/network.tf, terraform/main.tf, terraform/github.tf, terraform/alb.tf and terraform/terraform.tfvars.example.</a:t>
            </a:r>
          </a:p>
          <a:p xmlns:a="http://schemas.openxmlformats.org/drawingml/2006/main">
            <a:r>
              <a:t>These resources are defined in Terraform. No successful real AWS plan, apply or destroy has been demonstrated in this project session. The configured default region is ap-south-1. Desired nodes are two t3.large instances. Apply creates billable resources. Destroy evidence remains required by the course rubric. Avoid implying deployment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https://github.com/chinna-328/Devops-capstone-project/blob/main/helm/queuedesk/values.yaml, helm/queuedesk/values-aws.yaml and helm/queuedesk/templates/.</a:t>
            </a:r>
          </a:p>
          <a:p xmlns:a="http://schemas.openxmlformats.org/drawingml/2006/main">
            <a:r>
              <a:t>Configured design only: frontend and backend deployments start at two replicas, PostgreSQL uses a PVC, migrations run as a Helm job, and the backend HPA ranges from two to six replicas. The ALB Ingress routes /api to the backend and / to the frontend. Actual EKS installation, ingress access and scaling evidence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https://github.com/chinna-328/Devops-capstone-project/blob/main/monitoring/dashboard-configmap.yaml, monitoring/prometheus-values.yaml, monitoring/grafana-values.yaml, helm/queuedesk/templates/servicemonitor.yaml and docs/troubleshooting.md.</a:t>
            </a:r>
          </a:p>
          <a:p xmlns:a="http://schemas.openxmlformats.org/drawingml/2006/main">
            <a:r>
              <a:t>Local /metrics output was verified. Prometheus scraping and populated Grafana panels in a real cluster have not been demonstrated. Failure lab manifests exist in troubleshooting/, but their execution and recovery evidence remain pending.</a:t>
            </a:r>
          </a:p>
          <a:p xmlns:a="http://schemas.openxmlformats.org/drawingml/2006/main">
            <a:r>
              <a:t>Discuss ImagePullBackOff by checking image tags and registry access, then Service selector mismatches through Pod labels and EndpointSlices.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https://github.com/chinna-328/Devops-capstone-project, evidence/validation.txt, docs/submission.md and https://github.com/chinna-328/Devops-capstone-project/actions/runs/39039931989.</a:t>
            </a:r>
          </a:p>
          <a:p xmlns:a="http://schemas.openxmlformats.org/drawingml/2006/main">
            <a:r>
              <a:t>Implementation and execution are separate. The app and local container workflow work. The last verified GitHub run passed the test and image publication jobs. AWS deployment is incomplete, and live monitoring, scaling, troubleshooting demonstrations and destroy evidence are pending.</a:t>
            </a:r>
          </a:p>
          <a:p xmlns:a="http://schemas.openxmlformats.org/drawingml/2006/main">
            <a:r>
              <a:t>The repository has four commits at the last local inspection. The rubric asks for at least ten meaningful commits and supporting screenshots. The Loom recording is user-provided demo evidence. Do not claim full rubric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supplied by the user: https://www.loom.com/share/e109ef51b28045adabcc391b8813617a</a:t>
            </a:r>
          </a:p>
          <a:p xmlns:a="http://schemas.openxmlformats.org/drawingml/2006/main">
            <a:r>
              <a:t>Loom oEmbed metadata title: QueueDesk · Support workspace - 18 October 2026.</a:t>
            </a:r>
          </a:p>
          <a:p xmlns:a="http://schemas.openxmlformats.org/drawingml/2006/main">
            <a:r>
              <a:t>Project repository: https://github.com/chinna-328/Devops-capstone-project</a:t>
            </a:r>
          </a:p>
          <a:p xmlns:a="http://schemas.openxmlformats.org/drawingml/2006/main">
            <a:r>
              <a:t>This deck describes the repository and the recorded local demo. It does not assert that cloud deployment, live monitoring or the course submission are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d0b55f064c4a8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0c0c0876754e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2b0a8553f84c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1f28fbaacc4d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e130a679f940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f58be4780b47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99DDED-9ADB-4DAD-9438-D3EFE999928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046E791-4A83-4A6C-8733-C8DB9758542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F38ABE-9CBE-4EBE-8F7C-24D57814324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032A28-B527-4312-91F7-EB81804BF4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D67D79-B4E2-4811-9E8C-6918B846315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0A1561-63E8-4085-A85F-62FA6AC24B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D73B49-B836-4C8C-9EAE-4F92466F4F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516757D-5936-4980-A1D7-3D25E68E0FF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BC2A97-2E59-4302-837F-349FF9AFCD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BAA304-A314-48F8-BC3E-9AE97A7D6D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de71d042754458" /><Relationship Type="http://schemas.openxmlformats.org/officeDocument/2006/relationships/slideLayout" Target="/ppt/slideLayouts/slideLayout1.xml" Id="R59c969eb0bf94f51" /><Relationship Type="http://schemas.openxmlformats.org/officeDocument/2006/relationships/slideLayout" Target="/ppt/slideLayouts/slideLayout2.xml" Id="Rd3c5a4c5d2214d25" /><Relationship Type="http://schemas.openxmlformats.org/officeDocument/2006/relationships/slideLayout" Target="/ppt/slideLayouts/slideLayout3.xml" Id="R90085525946a46f4" /><Relationship Type="http://schemas.openxmlformats.org/officeDocument/2006/relationships/slideLayout" Target="/ppt/slideLayouts/slideLayout4.xml" Id="R0b642eefab034959" /><Relationship Type="http://schemas.openxmlformats.org/officeDocument/2006/relationships/slideLayout" Target="/ppt/slideLayouts/slideLayout5.xml" Id="Ra11f0496815c4c44" /><Relationship Type="http://schemas.openxmlformats.org/officeDocument/2006/relationships/slideLayout" Target="/ppt/slideLayouts/slideLayout6.xml" Id="R666774a436364d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c969eb0bf94f51"/>
    <p:sldLayoutId xmlns:r="http://schemas.openxmlformats.org/officeDocument/2006/relationships" id="2147483650" r:id="Rd3c5a4c5d2214d25"/>
    <p:sldLayoutId xmlns:r="http://schemas.openxmlformats.org/officeDocument/2006/relationships" id="2147483651" r:id="R90085525946a46f4"/>
    <p:sldLayoutId xmlns:r="http://schemas.openxmlformats.org/officeDocument/2006/relationships" id="2147483652" r:id="R0b642eefab034959"/>
    <p:sldLayoutId xmlns:r="http://schemas.openxmlformats.org/officeDocument/2006/relationships" id="2147483653" r:id="Ra11f0496815c4c44"/>
    <p:sldLayoutId xmlns:r="http://schemas.openxmlformats.org/officeDocument/2006/relationships" id="2147483654" r:id="R666774a436364d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a879ff45124095" /><Relationship Type="http://schemas.openxmlformats.org/officeDocument/2006/relationships/notesSlide" Target="/ppt/notesSlides/notesSlide1.xml" Id="R4110085be00445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d9ecc8d3e7942d0" /><Relationship Type="http://schemas.openxmlformats.org/officeDocument/2006/relationships/image" Target="/ppt/media/image.png" Id="Ra8f5ab36d8604814" /><Relationship Type="http://schemas.openxmlformats.org/officeDocument/2006/relationships/notesSlide" Target="/ppt/notesSlides/notesSlide2.xml" Id="Rc29df31705be44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031ad510b21490a" /><Relationship Type="http://schemas.openxmlformats.org/officeDocument/2006/relationships/notesSlide" Target="/ppt/notesSlides/notesSlide3.xml" Id="Rd8fe5a89ccf141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547fa7d1414f28" /><Relationship Type="http://schemas.openxmlformats.org/officeDocument/2006/relationships/notesSlide" Target="/ppt/notesSlides/notesSlide4.xml" Id="R11c20535a9b840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7fc13f83cd43bb" /><Relationship Type="http://schemas.openxmlformats.org/officeDocument/2006/relationships/notesSlide" Target="/ppt/notesSlides/notesSlide5.xml" Id="Rcf7060ef2c1a4d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cebff30d2b41e6" /><Relationship Type="http://schemas.openxmlformats.org/officeDocument/2006/relationships/notesSlide" Target="/ppt/notesSlides/notesSlide6.xml" Id="R8fe7d310c0c841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60f6d65a564e16" /><Relationship Type="http://schemas.openxmlformats.org/officeDocument/2006/relationships/notesSlide" Target="/ppt/notesSlides/notesSlide7.xml" Id="R7b95957b1faf4a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66c37ef834e419e" /><Relationship Type="http://schemas.openxmlformats.org/officeDocument/2006/relationships/notesSlide" Target="/ppt/notesSlides/notesSlide8.xml" Id="Rcc509fc71dec4f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fafa63fb0b546c0" /><Relationship Type="http://schemas.openxmlformats.org/officeDocument/2006/relationships/notesSlide" Target="/ppt/notesSlides/notesSlide9.xml" Id="R737ef887a7a948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a22f2a47c8a47eb" /><Relationship Type="http://schemas.openxmlformats.org/officeDocument/2006/relationships/notesSlide" Target="/ppt/notesSlides/notesSlide10.xml" Id="R5906b509136c44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563a3a13d5345da" /><Relationship Type="http://schemas.openxmlformats.org/officeDocument/2006/relationships/notesSlide" Target="/ppt/notesSlides/notesSlide11.xml" Id="R4738ff2f365b4a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af6dedd202842c3" /><Relationship Type="http://schemas.openxmlformats.org/officeDocument/2006/relationships/hyperlink" Target="https://www.loom.com/share/e109ef51b28045adabcc391b8813617a" TargetMode="External" Id="Rd40f7217bd294517" /><Relationship Type="http://schemas.openxmlformats.org/officeDocument/2006/relationships/hyperlink" Target="https://www.loom.com/share/e109ef51b28045adabcc391b8813617a" TargetMode="External" Id="Rf67ec43588e74001" /><Relationship Type="http://schemas.openxmlformats.org/officeDocument/2006/relationships/hyperlink" Target="https://github.com/chinna-328/Devops-capstone-project" TargetMode="External" Id="R1b29d9b7e47f4852" /><Relationship Type="http://schemas.openxmlformats.org/officeDocument/2006/relationships/hyperlink" Target="https://github.com/chinna-328/Devops-capstone-project" TargetMode="External" Id="R8200e7c8c8944ebb" /><Relationship Type="http://schemas.openxmlformats.org/officeDocument/2006/relationships/notesSlide" Target="/ppt/notesSlides/notesSlide12.xml" Id="Re8e7b78c0f6042cb" /></Relationships>
</file>

<file path=ppt/slides/slide1.xml><?xml version="1.0" encoding="utf-8"?>
<p:sld xmlns:p="http://schemas.openxmlformats.org/presentationml/2006/main">
  <p:cSld>
    <p:bg>
      <p:bgPr>
        <a:solidFill xmlns:a="http://schemas.openxmlformats.org/drawingml/2006/main">
          <a:srgbClr val="173C34"/>
        </a:solidFill>
      </p:bgPr>
    </p:bg>
    <p:spTree>
      <p:nvGrpSpPr>
        <p:cNvPr id="1" name=""/>
        <p:cNvGrpSpPr/>
        <p:nvPr/>
      </p:nvGrpSpPr>
      <p:grpSpPr>
        <a:xfrm xmlns:a="http://schemas.openxmlformats.org/drawingml/2006/main"/>
      </p:grpSpPr>
      <p:sp>
        <p:nvSpPr>
          <p:cNvPr id="8" name="QueueDesk">
            <a:extLst xmlns:a="http://schemas.openxmlformats.org/drawingml/2006/main">
              <a:ext uri="{FF2B5EF4-FFF2-40B4-BE49-F238E27FC236}">
                <a16:creationId xmlns:a16="http://schemas.microsoft.com/office/drawing/2014/main" id="{12F8F809-A64D-4C0E-8E77-0318FCBEC401}"/>
              </a:ext>
            </a:extLst>
          </p:cNvPr>
          <p:cNvSpPr>
            <a:spLocks xmlns:a="http://schemas.openxmlformats.org/drawingml/2006/main" noGrp="1"/>
          </p:cNvSpPr>
          <p:nvPr/>
        </p:nvSpPr>
        <p:spPr>
          <a:xfrm xmlns:a="http://schemas.openxmlformats.org/drawingml/2006/main">
            <a:off x="685800" y="63341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AFD5BC"/>
                </a:solidFill>
                <a:latin typeface="Liberation Sans"/>
                <a:ea typeface="Liberation Sans"/>
                <a:cs typeface="Liberation Sans"/>
              </a:defRPr>
            </a:defPPr>
          </a:lstStyle>
          <a:p xmlns:a="http://schemas.openxmlformats.org/drawingml/2006/main">
            <a:pPr algn="l">
              <a:defRPr sz="1350" b="0">
                <a:solidFill>
                  <a:srgbClr val="AFD5BC"/>
                </a:solidFill>
                <a:latin typeface="Liberation Sans"/>
                <a:ea typeface="Liberation Sans"/>
                <a:cs typeface="Liberation Sans"/>
              </a:defRPr>
            </a:pPr>
            <a:r>
              <a:rPr sz="1350" b="0">
                <a:solidFill>
                  <a:srgbClr val="AFD5BC"/>
                </a:solidFill>
                <a:latin typeface="Liberation Sans"/>
                <a:ea typeface="Liberation Sans"/>
                <a:cs typeface="Liberation Sans"/>
              </a:rPr>
              <a:t>QueueDesk</a:t>
            </a:r>
          </a:p>
        </p:txBody>
      </p:sp>
      <p:sp>
        <p:nvSpPr>
          <p:cNvPr id="2" name="01">
            <a:extLst xmlns:a="http://schemas.openxmlformats.org/drawingml/2006/main">
              <a:ext uri="{FF2B5EF4-FFF2-40B4-BE49-F238E27FC236}">
                <a16:creationId xmlns:a16="http://schemas.microsoft.com/office/drawing/2014/main" id="{F44B848F-BDA5-4472-BBBF-032FF6650C95}"/>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FD5BC"/>
                </a:solidFill>
                <a:latin typeface="Liberation Sans"/>
                <a:ea typeface="Liberation Sans"/>
                <a:cs typeface="Liberation Sans"/>
              </a:defRPr>
            </a:defPPr>
          </a:lstStyle>
          <a:p xmlns:a="http://schemas.openxmlformats.org/drawingml/2006/main">
            <a:pPr algn="r">
              <a:defRPr sz="1350" b="0">
                <a:solidFill>
                  <a:srgbClr val="AFD5BC"/>
                </a:solidFill>
                <a:latin typeface="Liberation Sans"/>
                <a:ea typeface="Liberation Sans"/>
                <a:cs typeface="Liberation Sans"/>
              </a:defRPr>
            </a:pPr>
            <a:r>
              <a:rPr sz="1350" b="0">
                <a:solidFill>
                  <a:srgbClr val="AFD5BC"/>
                </a:solidFill>
                <a:latin typeface="Liberation Sans"/>
                <a:ea typeface="Liberation Sans"/>
                <a:cs typeface="Liberation Sans"/>
              </a:rPr>
              <a:t>01</a:t>
            </a:r>
          </a:p>
        </p:txBody>
      </p:sp>
      <p:sp>
        <p:nvSpPr>
          <p:cNvPr id="3" name="DEVOPS CAPSTONE PROJECT">
            <a:extLst xmlns:a="http://schemas.openxmlformats.org/drawingml/2006/main">
              <a:ext uri="{FF2B5EF4-FFF2-40B4-BE49-F238E27FC236}">
                <a16:creationId xmlns:a16="http://schemas.microsoft.com/office/drawing/2014/main" id="{F1C371E4-951F-4876-B3FE-2320CE27E333}"/>
              </a:ext>
            </a:extLst>
          </p:cNvPr>
          <p:cNvSpPr>
            <a:spLocks xmlns:a="http://schemas.openxmlformats.org/drawingml/2006/main" noGrp="1"/>
          </p:cNvSpPr>
          <p:nvPr/>
        </p:nvSpPr>
        <p:spPr>
          <a:xfrm xmlns:a="http://schemas.openxmlformats.org/drawingml/2006/main">
            <a:off x="723900" y="9144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FD5BC"/>
                </a:solidFill>
                <a:latin typeface="Liberation Sans"/>
                <a:ea typeface="Liberation Sans"/>
                <a:cs typeface="Liberation Sans"/>
              </a:defRPr>
            </a:defPPr>
          </a:lstStyle>
          <a:p xmlns:a="http://schemas.openxmlformats.org/drawingml/2006/main">
            <a:pPr algn="l">
              <a:defRPr sz="1875" b="0">
                <a:solidFill>
                  <a:srgbClr val="AFD5BC"/>
                </a:solidFill>
                <a:latin typeface="Liberation Sans"/>
                <a:ea typeface="Liberation Sans"/>
                <a:cs typeface="Liberation Sans"/>
              </a:defRPr>
            </a:pPr>
            <a:r>
              <a:rPr sz="1875" b="0">
                <a:solidFill>
                  <a:srgbClr val="AFD5BC"/>
                </a:solidFill>
                <a:latin typeface="Liberation Sans"/>
                <a:ea typeface="Liberation Sans"/>
                <a:cs typeface="Liberation Sans"/>
              </a:rPr>
              <a:t>DEVOPS CAPSTONE PROJECT</a:t>
            </a:r>
          </a:p>
        </p:txBody>
      </p:sp>
      <p:sp>
        <p:nvSpPr>
          <p:cNvPr id="4" name="QueueDesk">
            <a:extLst xmlns:a="http://schemas.openxmlformats.org/drawingml/2006/main">
              <a:ext uri="{FF2B5EF4-FFF2-40B4-BE49-F238E27FC236}">
                <a16:creationId xmlns:a16="http://schemas.microsoft.com/office/drawing/2014/main" id="{C5A3984C-3F30-4B89-9993-0D403AC2C876}"/>
              </a:ext>
            </a:extLst>
          </p:cNvPr>
          <p:cNvSpPr>
            <a:spLocks xmlns:a="http://schemas.openxmlformats.org/drawingml/2006/main" noGrp="1"/>
          </p:cNvSpPr>
          <p:nvPr/>
        </p:nvSpPr>
        <p:spPr>
          <a:xfrm xmlns:a="http://schemas.openxmlformats.org/drawingml/2006/main">
            <a:off x="685800" y="204787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350" b="1">
                <a:solidFill>
                  <a:srgbClr val="FFFFFF"/>
                </a:solidFill>
                <a:latin typeface="Liberation Sans"/>
                <a:ea typeface="Liberation Sans"/>
                <a:cs typeface="Liberation Sans"/>
              </a:defRPr>
            </a:defPPr>
          </a:lstStyle>
          <a:p xmlns:a="http://schemas.openxmlformats.org/drawingml/2006/main">
            <a:pPr algn="l">
              <a:defRPr sz="7350" b="1">
                <a:solidFill>
                  <a:srgbClr val="FFFFFF"/>
                </a:solidFill>
                <a:latin typeface="Liberation Sans"/>
                <a:ea typeface="Liberation Sans"/>
                <a:cs typeface="Liberation Sans"/>
              </a:defRPr>
            </a:pPr>
            <a:r>
              <a:rPr sz="7350" b="1">
                <a:solidFill>
                  <a:srgbClr val="FFFFFF"/>
                </a:solidFill>
                <a:latin typeface="Liberation Sans"/>
                <a:ea typeface="Liberation Sans"/>
                <a:cs typeface="Liberation Sans"/>
              </a:rPr>
              <a:t>QueueDesk</a:t>
            </a:r>
          </a:p>
        </p:txBody>
      </p:sp>
      <p:sp>
        <p:nvSpPr>
          <p:cNvPr id="5" name="Support ticket tracker">
            <a:extLst xmlns:a="http://schemas.openxmlformats.org/drawingml/2006/main">
              <a:ext uri="{FF2B5EF4-FFF2-40B4-BE49-F238E27FC236}">
                <a16:creationId xmlns:a16="http://schemas.microsoft.com/office/drawing/2014/main" id="{B5E6BE78-7EFA-4438-B686-AC20909FA76B}"/>
              </a:ext>
            </a:extLst>
          </p:cNvPr>
          <p:cNvSpPr>
            <a:spLocks xmlns:a="http://schemas.openxmlformats.org/drawingml/2006/main" noGrp="1"/>
          </p:cNvSpPr>
          <p:nvPr/>
        </p:nvSpPr>
        <p:spPr>
          <a:xfrm xmlns:a="http://schemas.openxmlformats.org/drawingml/2006/main">
            <a:off x="723900" y="34290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FFFFFF"/>
                </a:solidFill>
                <a:latin typeface="Liberation Sans"/>
                <a:ea typeface="Liberation Sans"/>
                <a:cs typeface="Liberation Sans"/>
              </a:defRPr>
            </a:defPPr>
          </a:lstStyle>
          <a:p xmlns:a="http://schemas.openxmlformats.org/drawingml/2006/main">
            <a:pPr algn="l">
              <a:defRPr sz="3000" b="0">
                <a:solidFill>
                  <a:srgbClr val="FFFFFF"/>
                </a:solidFill>
                <a:latin typeface="Liberation Sans"/>
                <a:ea typeface="Liberation Sans"/>
                <a:cs typeface="Liberation Sans"/>
              </a:defRPr>
            </a:pPr>
            <a:r>
              <a:rPr sz="3000" b="0">
                <a:solidFill>
                  <a:srgbClr val="FFFFFF"/>
                </a:solidFill>
                <a:latin typeface="Liberation Sans"/>
                <a:ea typeface="Liberation Sans"/>
                <a:cs typeface="Liberation Sans"/>
              </a:rPr>
              <a:t>Support ticket tracker</a:t>
            </a:r>
          </a:p>
        </p:txBody>
      </p:sp>
      <p:sp>
        <p:nvSpPr>
          <p:cNvPr id="6" name="Guna Sai Kumar">
            <a:extLst xmlns:a="http://schemas.openxmlformats.org/drawingml/2006/main">
              <a:ext uri="{FF2B5EF4-FFF2-40B4-BE49-F238E27FC236}">
                <a16:creationId xmlns:a16="http://schemas.microsoft.com/office/drawing/2014/main" id="{9A462D6F-20FC-4068-A7B3-C61C7B0F369A}"/>
              </a:ext>
            </a:extLst>
          </p:cNvPr>
          <p:cNvSpPr>
            <a:spLocks xmlns:a="http://schemas.openxmlformats.org/drawingml/2006/main" noGrp="1"/>
          </p:cNvSpPr>
          <p:nvPr/>
        </p:nvSpPr>
        <p:spPr>
          <a:xfrm xmlns:a="http://schemas.openxmlformats.org/drawingml/2006/main">
            <a:off x="723900" y="47625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FD5BC"/>
                </a:solidFill>
                <a:latin typeface="Liberation Sans"/>
                <a:ea typeface="Liberation Sans"/>
                <a:cs typeface="Liberation Sans"/>
              </a:defRPr>
            </a:defPPr>
          </a:lstStyle>
          <a:p xmlns:a="http://schemas.openxmlformats.org/drawingml/2006/main">
            <a:pPr algn="l">
              <a:defRPr sz="2250" b="0">
                <a:solidFill>
                  <a:srgbClr val="AFD5BC"/>
                </a:solidFill>
                <a:latin typeface="Liberation Sans"/>
                <a:ea typeface="Liberation Sans"/>
                <a:cs typeface="Liberation Sans"/>
              </a:defRPr>
            </a:pPr>
            <a:r>
              <a:rPr sz="2250" b="0">
                <a:solidFill>
                  <a:srgbClr val="AFD5BC"/>
                </a:solidFill>
                <a:latin typeface="Liberation Sans"/>
                <a:ea typeface="Liberation Sans"/>
                <a:cs typeface="Liberation Sans"/>
              </a:rPr>
              <a:t>Guna Sai Kumar</a:t>
            </a:r>
          </a:p>
        </p:txBody>
      </p:sp>
      <p:sp>
        <p:nvSpPr>
          <p:cNvPr id="7" name="React, FastAPI and PostgreSQL">
            <a:extLst xmlns:a="http://schemas.openxmlformats.org/drawingml/2006/main">
              <a:ext uri="{FF2B5EF4-FFF2-40B4-BE49-F238E27FC236}">
                <a16:creationId xmlns:a16="http://schemas.microsoft.com/office/drawing/2014/main" id="{2589132F-08EE-4328-8BCB-6687327B86D3}"/>
              </a:ext>
            </a:extLst>
          </p:cNvPr>
          <p:cNvSpPr>
            <a:spLocks xmlns:a="http://schemas.openxmlformats.org/drawingml/2006/main" noGrp="1"/>
          </p:cNvSpPr>
          <p:nvPr/>
        </p:nvSpPr>
        <p:spPr>
          <a:xfrm xmlns:a="http://schemas.openxmlformats.org/drawingml/2006/main">
            <a:off x="723900" y="5286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FD5BC"/>
                </a:solidFill>
                <a:latin typeface="Liberation Sans"/>
                <a:ea typeface="Liberation Sans"/>
                <a:cs typeface="Liberation Sans"/>
              </a:defRPr>
            </a:defPPr>
          </a:lstStyle>
          <a:p xmlns:a="http://schemas.openxmlformats.org/drawingml/2006/main">
            <a:pPr algn="l">
              <a:defRPr sz="2025" b="0">
                <a:solidFill>
                  <a:srgbClr val="AFD5BC"/>
                </a:solidFill>
                <a:latin typeface="Liberation Sans"/>
                <a:ea typeface="Liberation Sans"/>
                <a:cs typeface="Liberation Sans"/>
              </a:defRPr>
            </a:pPr>
            <a:r>
              <a:rPr sz="2025" b="0">
                <a:solidFill>
                  <a:srgbClr val="AFD5BC"/>
                </a:solidFill>
                <a:latin typeface="Liberation Sans"/>
                <a:ea typeface="Liberation Sans"/>
                <a:cs typeface="Liberation Sans"/>
              </a:rPr>
              <a:t>React, FastAPI and PostgreSQL</a:t>
            </a:r>
          </a:p>
        </p:txBody>
      </p:sp>
    </p:spTree>
    <p:extLst>
      <p:ext uri="{BB962C8B-B14F-4D97-AF65-F5344CB8AC3E}">
        <p14:creationId xmlns:p14="http://schemas.microsoft.com/office/powerpoint/2010/main" val="538683402"/>
      </p:ext>
    </p:extLst>
  </p:cSld>
</p:sld>
</file>

<file path=ppt/slides/slide2.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1" name="Support ticket workflow">
            <a:extLst xmlns:a="http://schemas.openxmlformats.org/drawingml/2006/main">
              <a:ext uri="{FF2B5EF4-FFF2-40B4-BE49-F238E27FC236}">
                <a16:creationId xmlns:a16="http://schemas.microsoft.com/office/drawing/2014/main" id="{66735BB6-342E-4046-9146-98DBF80C4DD5}"/>
              </a:ext>
            </a:extLst>
          </p:cNvPr>
          <p:cNvSpPr>
            <a:spLocks xmlns:a="http://schemas.openxmlformats.org/drawingml/2006/main" noGrp="1"/>
          </p:cNvSpPr>
          <p:nvPr/>
        </p:nvSpPr>
        <p:spPr>
          <a:xfrm xmlns:a="http://schemas.openxmlformats.org/drawingml/2006/main">
            <a:off x="685800" y="609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3C34"/>
                </a:solidFill>
                <a:latin typeface="Liberation Sans"/>
                <a:ea typeface="Liberation Sans"/>
                <a:cs typeface="Liberation Sans"/>
              </a:defRPr>
            </a:defPPr>
          </a:lstStyle>
          <a:p xmlns:a="http://schemas.openxmlformats.org/drawingml/2006/main">
            <a:pPr algn="l">
              <a:defRPr sz="3600" b="1">
                <a:solidFill>
                  <a:srgbClr val="173C34"/>
                </a:solidFill>
                <a:latin typeface="Liberation Sans"/>
                <a:ea typeface="Liberation Sans"/>
                <a:cs typeface="Liberation Sans"/>
              </a:defRPr>
            </a:pPr>
            <a:r>
              <a:rPr sz="3600" b="1">
                <a:solidFill>
                  <a:srgbClr val="173C34"/>
                </a:solidFill>
                <a:latin typeface="Liberation Sans"/>
                <a:ea typeface="Liberation Sans"/>
                <a:cs typeface="Liberation Sans"/>
              </a:rPr>
              <a:t>Support ticket workflow</a:t>
            </a:r>
          </a:p>
        </p:txBody>
      </p:sp>
      <p:sp>
        <p:nvSpPr>
          <p:cNvPr id="2" name="QueueDesk">
            <a:extLst xmlns:a="http://schemas.openxmlformats.org/drawingml/2006/main">
              <a:ext uri="{FF2B5EF4-FFF2-40B4-BE49-F238E27FC236}">
                <a16:creationId xmlns:a16="http://schemas.microsoft.com/office/drawing/2014/main" id="{0D215DD8-2DB2-4551-B58B-37ABD49D9EB6}"/>
              </a:ext>
            </a:extLst>
          </p:cNvPr>
          <p:cNvSpPr>
            <a:spLocks xmlns:a="http://schemas.openxmlformats.org/drawingml/2006/main" noGrp="1"/>
          </p:cNvSpPr>
          <p:nvPr/>
        </p:nvSpPr>
        <p:spPr>
          <a:xfrm xmlns:a="http://schemas.openxmlformats.org/drawingml/2006/main">
            <a:off x="685800" y="63341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57A71"/>
                </a:solidFill>
                <a:latin typeface="Liberation Sans"/>
                <a:ea typeface="Liberation Sans"/>
                <a:cs typeface="Liberation Sans"/>
              </a:defRPr>
            </a:defPPr>
          </a:lstStyle>
          <a:p xmlns:a="http://schemas.openxmlformats.org/drawingml/2006/main">
            <a:pPr algn="l">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QueueDesk</a:t>
            </a:r>
          </a:p>
        </p:txBody>
      </p:sp>
      <p:sp>
        <p:nvSpPr>
          <p:cNvPr id="3" name="02">
            <a:extLst xmlns:a="http://schemas.openxmlformats.org/drawingml/2006/main">
              <a:ext uri="{FF2B5EF4-FFF2-40B4-BE49-F238E27FC236}">
                <a16:creationId xmlns:a16="http://schemas.microsoft.com/office/drawing/2014/main" id="{94E6A852-E04D-409C-8B24-C67BB319CA9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57A71"/>
                </a:solidFill>
                <a:latin typeface="Liberation Sans"/>
                <a:ea typeface="Liberation Sans"/>
                <a:cs typeface="Liberation Sans"/>
              </a:defRPr>
            </a:defPPr>
          </a:lstStyle>
          <a:p xmlns:a="http://schemas.openxmlformats.org/drawingml/2006/main">
            <a:pPr algn="r">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02</a:t>
            </a:r>
          </a:p>
        </p:txBody>
      </p:sp>
      <p:sp>
        <p:nvSpPr>
          <p:cNvPr id="4" name="Ticket details">
            <a:extLst xmlns:a="http://schemas.openxmlformats.org/drawingml/2006/main">
              <a:ext uri="{FF2B5EF4-FFF2-40B4-BE49-F238E27FC236}">
                <a16:creationId xmlns:a16="http://schemas.microsoft.com/office/drawing/2014/main" id="{9BB3A7B1-D5ED-49BD-8E9C-44D2FCB53D15}"/>
              </a:ext>
            </a:extLst>
          </p:cNvPr>
          <p:cNvSpPr>
            <a:spLocks xmlns:a="http://schemas.openxmlformats.org/drawingml/2006/main" noGrp="1"/>
          </p:cNvSpPr>
          <p:nvPr/>
        </p:nvSpPr>
        <p:spPr>
          <a:xfrm xmlns:a="http://schemas.openxmlformats.org/drawingml/2006/main">
            <a:off x="685800" y="17621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745B"/>
                </a:solidFill>
                <a:latin typeface="Liberation Sans"/>
                <a:ea typeface="Liberation Sans"/>
                <a:cs typeface="Liberation Sans"/>
              </a:defRPr>
            </a:defPPr>
          </a:lstStyle>
          <a:p xmlns:a="http://schemas.openxmlformats.org/drawingml/2006/main">
            <a:pPr algn="l">
              <a:defRPr sz="2175" b="1">
                <a:solidFill>
                  <a:srgbClr val="28745B"/>
                </a:solidFill>
                <a:latin typeface="Liberation Sans"/>
                <a:ea typeface="Liberation Sans"/>
                <a:cs typeface="Liberation Sans"/>
              </a:defRPr>
            </a:pPr>
            <a:r>
              <a:rPr sz="2175" b="1">
                <a:solidFill>
                  <a:srgbClr val="28745B"/>
                </a:solidFill>
                <a:latin typeface="Liberation Sans"/>
                <a:ea typeface="Liberation Sans"/>
                <a:cs typeface="Liberation Sans"/>
              </a:rPr>
              <a:t>Ticket details</a:t>
            </a:r>
          </a:p>
        </p:txBody>
      </p:sp>
      <p:sp>
        <p:nvSpPr>
          <p:cNvPr id="5" name="Title, description, requester and assignee">
            <a:extLst xmlns:a="http://schemas.openxmlformats.org/drawingml/2006/main">
              <a:ext uri="{FF2B5EF4-FFF2-40B4-BE49-F238E27FC236}">
                <a16:creationId xmlns:a16="http://schemas.microsoft.com/office/drawing/2014/main" id="{9639BBAF-3599-4146-BFCF-56281C30301B}"/>
              </a:ext>
            </a:extLst>
          </p:cNvPr>
          <p:cNvSpPr>
            <a:spLocks xmlns:a="http://schemas.openxmlformats.org/drawingml/2006/main" noGrp="1"/>
          </p:cNvSpPr>
          <p:nvPr/>
        </p:nvSpPr>
        <p:spPr>
          <a:xfrm xmlns:a="http://schemas.openxmlformats.org/drawingml/2006/main">
            <a:off x="685800" y="22383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Title, description, requester and assignee</a:t>
            </a:r>
          </a:p>
        </p:txBody>
      </p:sp>
      <p:sp>
        <p:nvSpPr>
          <p:cNvPr id="6" name="Ticket status">
            <a:extLst xmlns:a="http://schemas.openxmlformats.org/drawingml/2006/main">
              <a:ext uri="{FF2B5EF4-FFF2-40B4-BE49-F238E27FC236}">
                <a16:creationId xmlns:a16="http://schemas.microsoft.com/office/drawing/2014/main" id="{5321A248-A0A3-40F8-9EFD-7D8FCB10D532}"/>
              </a:ext>
            </a:extLst>
          </p:cNvPr>
          <p:cNvSpPr>
            <a:spLocks xmlns:a="http://schemas.openxmlformats.org/drawingml/2006/main" noGrp="1"/>
          </p:cNvSpPr>
          <p:nvPr/>
        </p:nvSpPr>
        <p:spPr>
          <a:xfrm xmlns:a="http://schemas.openxmlformats.org/drawingml/2006/main">
            <a:off x="685800" y="32861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745B"/>
                </a:solidFill>
                <a:latin typeface="Liberation Sans"/>
                <a:ea typeface="Liberation Sans"/>
                <a:cs typeface="Liberation Sans"/>
              </a:defRPr>
            </a:defPPr>
          </a:lstStyle>
          <a:p xmlns:a="http://schemas.openxmlformats.org/drawingml/2006/main">
            <a:pPr algn="l">
              <a:defRPr sz="2175" b="1">
                <a:solidFill>
                  <a:srgbClr val="28745B"/>
                </a:solidFill>
                <a:latin typeface="Liberation Sans"/>
                <a:ea typeface="Liberation Sans"/>
                <a:cs typeface="Liberation Sans"/>
              </a:defRPr>
            </a:pPr>
            <a:r>
              <a:rPr sz="2175" b="1">
                <a:solidFill>
                  <a:srgbClr val="28745B"/>
                </a:solidFill>
                <a:latin typeface="Liberation Sans"/>
                <a:ea typeface="Liberation Sans"/>
                <a:cs typeface="Liberation Sans"/>
              </a:rPr>
              <a:t>Ticket status</a:t>
            </a:r>
          </a:p>
        </p:txBody>
      </p:sp>
      <p:sp>
        <p:nvSpPr>
          <p:cNvPr id="7" name="Open, in progress and resolved">
            <a:extLst xmlns:a="http://schemas.openxmlformats.org/drawingml/2006/main">
              <a:ext uri="{FF2B5EF4-FFF2-40B4-BE49-F238E27FC236}">
                <a16:creationId xmlns:a16="http://schemas.microsoft.com/office/drawing/2014/main" id="{36CD3210-ABA4-45D6-BA2D-3772FB9632AE}"/>
              </a:ext>
            </a:extLst>
          </p:cNvPr>
          <p:cNvSpPr>
            <a:spLocks xmlns:a="http://schemas.openxmlformats.org/drawingml/2006/main" noGrp="1"/>
          </p:cNvSpPr>
          <p:nvPr/>
        </p:nvSpPr>
        <p:spPr>
          <a:xfrm xmlns:a="http://schemas.openxmlformats.org/drawingml/2006/main">
            <a:off x="685800" y="37623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Open, in progress and resolved</a:t>
            </a:r>
          </a:p>
        </p:txBody>
      </p:sp>
      <p:sp>
        <p:nvSpPr>
          <p:cNvPr id="8" name="Search the queue and filter by status or prio">
            <a:extLst xmlns:a="http://schemas.openxmlformats.org/drawingml/2006/main">
              <a:ext uri="{FF2B5EF4-FFF2-40B4-BE49-F238E27FC236}">
                <a16:creationId xmlns:a16="http://schemas.microsoft.com/office/drawing/2014/main" id="{33F827E4-F612-481F-BF35-C9DDE6A963AE}"/>
              </a:ext>
            </a:extLst>
          </p:cNvPr>
          <p:cNvSpPr>
            <a:spLocks xmlns:a="http://schemas.openxmlformats.org/drawingml/2006/main" noGrp="1"/>
          </p:cNvSpPr>
          <p:nvPr/>
        </p:nvSpPr>
        <p:spPr>
          <a:xfrm xmlns:a="http://schemas.openxmlformats.org/drawingml/2006/main">
            <a:off x="685800" y="49530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Search the queue and filter by status or priority.</a:t>
            </a:r>
          </a:p>
        </p:txBody>
      </p:sp>
      <p:pic>
        <p:nvPicPr>
          <p:cNvPr id="9" name="">
            <a:extLst xmlns:a="http://schemas.openxmlformats.org/drawingml/2006/main">
              <a:ext uri="{FF2B5EF4-FFF2-40B4-BE49-F238E27FC236}">
                <a16:creationId xmlns:a16="http://schemas.microsoft.com/office/drawing/2014/main" id="{DD27CF05-42AF-4D90-9E6E-D2DF25A1BB11}"/>
              </a:ext>
            </a:extLst>
          </p:cNvPr>
          <p:cNvPicPr>
            <a:picLocks xmlns:a="http://schemas.openxmlformats.org/drawingml/2006/main" noChangeAspect="1"/>
          </p:cNvPicPr>
          <p:nvPr/>
        </p:nvPicPr>
        <p:blipFill>
          <a:blip xmlns:r="http://schemas.openxmlformats.org/officeDocument/2006/relationships" xmlns:a="http://schemas.openxmlformats.org/drawingml/2006/main" r:embed="Ra8f5ab36d8604814"/>
          <a:stretch xmlns:a="http://schemas.openxmlformats.org/drawingml/2006/main"/>
        </p:blipFill>
        <p:spPr>
          <a:xfrm xmlns:a="http://schemas.openxmlformats.org/drawingml/2006/main">
            <a:off x="4477808" y="1724025"/>
            <a:ext cx="7027333" cy="3952875"/>
          </a:xfrm>
          <a:prstGeom xmlns:a="http://schemas.openxmlformats.org/drawingml/2006/main" prst="rect">
            <a:avLst/>
          </a:prstGeom>
        </p:spPr>
      </p:pic>
      <p:sp>
        <p:nvSpPr>
          <p:cNvPr id="10" name="Local demo recording">
            <a:extLst xmlns:a="http://schemas.openxmlformats.org/drawingml/2006/main">
              <a:ext uri="{FF2B5EF4-FFF2-40B4-BE49-F238E27FC236}">
                <a16:creationId xmlns:a16="http://schemas.microsoft.com/office/drawing/2014/main" id="{ACFCCCE2-B71C-46B7-A1A6-8136578E74B2}"/>
              </a:ext>
            </a:extLst>
          </p:cNvPr>
          <p:cNvSpPr>
            <a:spLocks xmlns:a="http://schemas.openxmlformats.org/drawingml/2006/main" noGrp="1"/>
          </p:cNvSpPr>
          <p:nvPr/>
        </p:nvSpPr>
        <p:spPr>
          <a:xfrm xmlns:a="http://schemas.openxmlformats.org/drawingml/2006/main">
            <a:off x="4476750" y="5800725"/>
            <a:ext cx="702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57A71"/>
                </a:solidFill>
                <a:latin typeface="Liberation Sans"/>
                <a:ea typeface="Liberation Sans"/>
                <a:cs typeface="Liberation Sans"/>
              </a:defRPr>
            </a:defPPr>
          </a:lstStyle>
          <a:p xmlns:a="http://schemas.openxmlformats.org/drawingml/2006/main">
            <a:pPr algn="l">
              <a:defRPr sz="1500" b="0">
                <a:solidFill>
                  <a:srgbClr val="657A71"/>
                </a:solidFill>
                <a:latin typeface="Liberation Sans"/>
                <a:ea typeface="Liberation Sans"/>
                <a:cs typeface="Liberation Sans"/>
              </a:defRPr>
            </a:pPr>
            <a:r>
              <a:rPr sz="1500" b="0">
                <a:solidFill>
                  <a:srgbClr val="657A71"/>
                </a:solidFill>
                <a:latin typeface="Liberation Sans"/>
                <a:ea typeface="Liberation Sans"/>
                <a:cs typeface="Liberation Sans"/>
              </a:rPr>
              <a:t>Local demo recording</a:t>
            </a:r>
          </a:p>
        </p:txBody>
      </p:sp>
    </p:spTree>
    <p:extLst>
      <p:ext uri="{BB962C8B-B14F-4D97-AF65-F5344CB8AC3E}">
        <p14:creationId xmlns:p14="http://schemas.microsoft.com/office/powerpoint/2010/main" val="503162208"/>
      </p:ext>
    </p:extLst>
  </p:cSld>
</p:sld>
</file>

<file path=ppt/slides/slide3.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6" name="Application architecture">
            <a:extLst xmlns:a="http://schemas.openxmlformats.org/drawingml/2006/main">
              <a:ext uri="{FF2B5EF4-FFF2-40B4-BE49-F238E27FC236}">
                <a16:creationId xmlns:a16="http://schemas.microsoft.com/office/drawing/2014/main" id="{44F51823-C3FF-4E9E-8204-DD3D82F12EEA}"/>
              </a:ext>
            </a:extLst>
          </p:cNvPr>
          <p:cNvSpPr>
            <a:spLocks xmlns:a="http://schemas.openxmlformats.org/drawingml/2006/main" noGrp="1"/>
          </p:cNvSpPr>
          <p:nvPr/>
        </p:nvSpPr>
        <p:spPr>
          <a:xfrm xmlns:a="http://schemas.openxmlformats.org/drawingml/2006/main">
            <a:off x="685800" y="609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3C34"/>
                </a:solidFill>
                <a:latin typeface="Liberation Sans"/>
                <a:ea typeface="Liberation Sans"/>
                <a:cs typeface="Liberation Sans"/>
              </a:defRPr>
            </a:defPPr>
          </a:lstStyle>
          <a:p xmlns:a="http://schemas.openxmlformats.org/drawingml/2006/main">
            <a:pPr algn="l">
              <a:defRPr sz="3600" b="1">
                <a:solidFill>
                  <a:srgbClr val="173C34"/>
                </a:solidFill>
                <a:latin typeface="Liberation Sans"/>
                <a:ea typeface="Liberation Sans"/>
                <a:cs typeface="Liberation Sans"/>
              </a:defRPr>
            </a:pPr>
            <a:r>
              <a:rPr sz="3600" b="1">
                <a:solidFill>
                  <a:srgbClr val="173C34"/>
                </a:solidFill>
                <a:latin typeface="Liberation Sans"/>
                <a:ea typeface="Liberation Sans"/>
                <a:cs typeface="Liberation Sans"/>
              </a:rPr>
              <a:t>Application architecture</a:t>
            </a:r>
          </a:p>
        </p:txBody>
      </p:sp>
      <p:sp>
        <p:nvSpPr>
          <p:cNvPr id="2" name="QueueDesk">
            <a:extLst xmlns:a="http://schemas.openxmlformats.org/drawingml/2006/main">
              <a:ext uri="{FF2B5EF4-FFF2-40B4-BE49-F238E27FC236}">
                <a16:creationId xmlns:a16="http://schemas.microsoft.com/office/drawing/2014/main" id="{82814758-DCE3-4ADE-AC7B-55462C7F3476}"/>
              </a:ext>
            </a:extLst>
          </p:cNvPr>
          <p:cNvSpPr>
            <a:spLocks xmlns:a="http://schemas.openxmlformats.org/drawingml/2006/main" noGrp="1"/>
          </p:cNvSpPr>
          <p:nvPr/>
        </p:nvSpPr>
        <p:spPr>
          <a:xfrm xmlns:a="http://schemas.openxmlformats.org/drawingml/2006/main">
            <a:off x="685800" y="63341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57A71"/>
                </a:solidFill>
                <a:latin typeface="Liberation Sans"/>
                <a:ea typeface="Liberation Sans"/>
                <a:cs typeface="Liberation Sans"/>
              </a:defRPr>
            </a:defPPr>
          </a:lstStyle>
          <a:p xmlns:a="http://schemas.openxmlformats.org/drawingml/2006/main">
            <a:pPr algn="l">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QueueDesk</a:t>
            </a:r>
          </a:p>
        </p:txBody>
      </p:sp>
      <p:sp>
        <p:nvSpPr>
          <p:cNvPr id="3" name="03">
            <a:extLst xmlns:a="http://schemas.openxmlformats.org/drawingml/2006/main">
              <a:ext uri="{FF2B5EF4-FFF2-40B4-BE49-F238E27FC236}">
                <a16:creationId xmlns:a16="http://schemas.microsoft.com/office/drawing/2014/main" id="{05562FF3-A09D-4067-8E2C-FCCDF436FCF3}"/>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57A71"/>
                </a:solidFill>
                <a:latin typeface="Liberation Sans"/>
                <a:ea typeface="Liberation Sans"/>
                <a:cs typeface="Liberation Sans"/>
              </a:defRPr>
            </a:defPPr>
          </a:lstStyle>
          <a:p xmlns:a="http://schemas.openxmlformats.org/drawingml/2006/main">
            <a:pPr algn="r">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03</a:t>
            </a:r>
          </a:p>
        </p:txBody>
      </p:sp>
      <p:graphicFrame>
        <p:nvGraphicFramePr>
          <p:cNvPr id="4" name="">
            <a:extLst xmlns:a="http://schemas.openxmlformats.org/drawingml/2006/main">
              <a:ext uri="{FF2B5EF4-FFF2-40B4-BE49-F238E27FC236}">
                <a16:creationId xmlns:a16="http://schemas.microsoft.com/office/drawing/2014/main" id="{D378244E-F849-481D-96FB-3518121F837D}"/>
              </a:ext>
            </a:extLst>
          </p:cNvPr>
          <p:cNvGraphicFramePr/>
          <p:nvPr/>
        </p:nvGraphicFramePr>
        <p:xfrm>
          <a:off xmlns:a="http://schemas.openxmlformats.org/drawingml/2006/main" x="685800" y="1619250"/>
          <a:ext xmlns:a="http://schemas.openxmlformats.org/drawingml/2006/main" cx="10820400" cy="3829050"/>
        </p:xfrm>
        <a:graphic xmlns:a="http://schemas.openxmlformats.org/drawingml/2006/main">
          <a:graphicData uri="http://schemas.openxmlformats.org/drawingml/2006/table">
            <a:tbl>
              <a:tblPr firstRow="1" bandRow="0"/>
              <a:tblGrid>
                <a:gridCol w="2857500"/>
                <a:gridCol w="7962900"/>
              </a:tblGrid>
              <a:tr h="638175">
                <a:tc>
                  <a:txBody>
                    <a:bodyPr/>
                    <a:lstStyle/>
                    <a:p>
                      <a:r>
                        <a:rPr sz="1875" b="1">
                          <a:solidFill>
                            <a:srgbClr val="FFFFFF"/>
                          </a:solidFill>
                          <a:latin typeface="Liberation Sans"/>
                          <a:ea typeface="Liberation Sans"/>
                          <a:cs typeface="Liberation Sans"/>
                        </a:rPr>
                        <a:t>Component</a:t>
                      </a:r>
                    </a:p>
                  </a:txBody>
                  <a:tcPr marL="91440" marR="91440" marT="45720" marB="45720" anchor="ctr">
                    <a:lnL w="7620">
                      <a:solidFill>
                        <a:srgbClr val="DDE6DF"/>
                      </a:solidFill>
                      <a:prstDash val="solid"/>
                    </a:lnL>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c>
                  <a:txBody>
                    <a:bodyPr/>
                    <a:lstStyle/>
                    <a:p>
                      <a:r>
                        <a:rPr sz="1875" b="1">
                          <a:solidFill>
                            <a:srgbClr val="FFFFFF"/>
                          </a:solidFill>
                          <a:latin typeface="Liberation Sans"/>
                          <a:ea typeface="Liberation Sans"/>
                          <a:cs typeface="Liberation Sans"/>
                        </a:rPr>
                        <a:t>Responsibility</a:t>
                      </a:r>
                    </a:p>
                  </a:txBody>
                  <a:tcPr marL="91440" marR="91440" marT="45720" marB="45720" anchor="ctr">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r>
              <a:tr h="638175">
                <a:tc>
                  <a:txBody>
                    <a:bodyPr/>
                    <a:lstStyle/>
                    <a:p>
                      <a:r>
                        <a:rPr sz="1875" b="1">
                          <a:solidFill>
                            <a:srgbClr val="344C45"/>
                          </a:solidFill>
                          <a:latin typeface="Liberation Sans"/>
                          <a:ea typeface="Liberation Sans"/>
                          <a:cs typeface="Liberation Sans"/>
                        </a:rPr>
                        <a:t>React frontend</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Ticket list, forms, search and filters</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r h="638175">
                <a:tc>
                  <a:txBody>
                    <a:bodyPr/>
                    <a:lstStyle/>
                    <a:p>
                      <a:r>
                        <a:rPr sz="1875" b="1">
                          <a:solidFill>
                            <a:srgbClr val="344C45"/>
                          </a:solidFill>
                          <a:latin typeface="Liberation Sans"/>
                          <a:ea typeface="Liberation Sans"/>
                          <a:cs typeface="Liberation Sans"/>
                        </a:rPr>
                        <a:t>Nginx</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Serves the frontend and proxies /api requests</a:t>
                      </a:r>
                    </a:p>
                  </a:txBody>
                  <a:tcPr marL="91440" marR="91440" marT="45720" marB="45720" anchor="ctr">
                    <a:lnR w="7620">
                      <a:solidFill>
                        <a:srgbClr val="DDE6DF"/>
                      </a:solidFill>
                      <a:prstDash val="solid"/>
                    </a:lnR>
                    <a:lnB w="7620">
                      <a:solidFill>
                        <a:srgbClr val="DDE6DF"/>
                      </a:solidFill>
                      <a:prstDash val="solid"/>
                    </a:lnB>
                    <a:solidFill>
                      <a:srgbClr val="EDF2ED"/>
                    </a:solidFill>
                  </a:tcPr>
                </a:tc>
              </a:tr>
              <a:tr h="638175">
                <a:tc>
                  <a:txBody>
                    <a:bodyPr/>
                    <a:lstStyle/>
                    <a:p>
                      <a:r>
                        <a:rPr sz="1875" b="1">
                          <a:solidFill>
                            <a:srgbClr val="344C45"/>
                          </a:solidFill>
                          <a:latin typeface="Liberation Sans"/>
                          <a:ea typeface="Liberation Sans"/>
                          <a:cs typeface="Liberation Sans"/>
                        </a:rPr>
                        <a:t>FastAPI backend</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Validates requests and handles ticket operations</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r h="638175">
                <a:tc>
                  <a:txBody>
                    <a:bodyPr/>
                    <a:lstStyle/>
                    <a:p>
                      <a:r>
                        <a:rPr sz="1875" b="1">
                          <a:solidFill>
                            <a:srgbClr val="344C45"/>
                          </a:solidFill>
                          <a:latin typeface="Liberation Sans"/>
                          <a:ea typeface="Liberation Sans"/>
                          <a:cs typeface="Liberation Sans"/>
                        </a:rPr>
                        <a:t>PostgreSQL</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Stores tickets in a persistent database</a:t>
                      </a:r>
                    </a:p>
                  </a:txBody>
                  <a:tcPr marL="91440" marR="91440" marT="45720" marB="45720" anchor="ctr">
                    <a:lnR w="7620">
                      <a:solidFill>
                        <a:srgbClr val="DDE6DF"/>
                      </a:solidFill>
                      <a:prstDash val="solid"/>
                    </a:lnR>
                    <a:lnB w="7620">
                      <a:solidFill>
                        <a:srgbClr val="DDE6DF"/>
                      </a:solidFill>
                      <a:prstDash val="solid"/>
                    </a:lnB>
                    <a:solidFill>
                      <a:srgbClr val="EDF2ED"/>
                    </a:solidFill>
                  </a:tcPr>
                </a:tc>
              </a:tr>
              <a:tr h="638175">
                <a:tc>
                  <a:txBody>
                    <a:bodyPr/>
                    <a:lstStyle/>
                    <a:p>
                      <a:r>
                        <a:rPr sz="1875" b="1">
                          <a:solidFill>
                            <a:srgbClr val="344C45"/>
                          </a:solidFill>
                          <a:latin typeface="Liberation Sans"/>
                          <a:ea typeface="Liberation Sans"/>
                          <a:cs typeface="Liberation Sans"/>
                        </a:rPr>
                        <a:t>Alembic</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Applies schema migrations before application startup</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bl>
          </a:graphicData>
        </a:graphic>
      </p:graphicFrame>
      <p:sp>
        <p:nvSpPr>
          <p:cNvPr id="5" name="Docker Compose coordinates service startup an">
            <a:extLst xmlns:a="http://schemas.openxmlformats.org/drawingml/2006/main">
              <a:ext uri="{FF2B5EF4-FFF2-40B4-BE49-F238E27FC236}">
                <a16:creationId xmlns:a16="http://schemas.microsoft.com/office/drawing/2014/main" id="{1B8AE0DA-1AC7-4A7F-BFFE-0FAF365627EC}"/>
              </a:ext>
            </a:extLst>
          </p:cNvPr>
          <p:cNvSpPr>
            <a:spLocks xmlns:a="http://schemas.openxmlformats.org/drawingml/2006/main" noGrp="1"/>
          </p:cNvSpPr>
          <p:nvPr/>
        </p:nvSpPr>
        <p:spPr>
          <a:xfrm xmlns:a="http://schemas.openxmlformats.org/drawingml/2006/main">
            <a:off x="685800" y="57150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745B"/>
                </a:solidFill>
                <a:latin typeface="Liberation Sans"/>
                <a:ea typeface="Liberation Sans"/>
                <a:cs typeface="Liberation Sans"/>
              </a:defRPr>
            </a:defPPr>
          </a:lstStyle>
          <a:p xmlns:a="http://schemas.openxmlformats.org/drawingml/2006/main">
            <a:pPr algn="l">
              <a:defRPr sz="2025" b="0">
                <a:solidFill>
                  <a:srgbClr val="28745B"/>
                </a:solidFill>
                <a:latin typeface="Liberation Sans"/>
                <a:ea typeface="Liberation Sans"/>
                <a:cs typeface="Liberation Sans"/>
              </a:defRPr>
            </a:pPr>
            <a:r>
              <a:rPr sz="2025" b="0">
                <a:solidFill>
                  <a:srgbClr val="28745B"/>
                </a:solidFill>
                <a:latin typeface="Liberation Sans"/>
                <a:ea typeface="Liberation Sans"/>
                <a:cs typeface="Liberation Sans"/>
              </a:rPr>
              <a:t>Docker Compose coordinates service startup and readiness.</a:t>
            </a:r>
          </a:p>
        </p:txBody>
      </p:sp>
    </p:spTree>
    <p:extLst>
      <p:ext uri="{BB962C8B-B14F-4D97-AF65-F5344CB8AC3E}">
        <p14:creationId xmlns:p14="http://schemas.microsoft.com/office/powerpoint/2010/main" val="1524115149"/>
      </p:ext>
    </p:extLst>
  </p:cSld>
</p:sld>
</file>

<file path=ppt/slides/slide4.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6" name="REST API and database">
            <a:extLst xmlns:a="http://schemas.openxmlformats.org/drawingml/2006/main">
              <a:ext uri="{FF2B5EF4-FFF2-40B4-BE49-F238E27FC236}">
                <a16:creationId xmlns:a16="http://schemas.microsoft.com/office/drawing/2014/main" id="{96D4C23F-A33D-4008-97A1-BE9EE82D8C6C}"/>
              </a:ext>
            </a:extLst>
          </p:cNvPr>
          <p:cNvSpPr>
            <a:spLocks xmlns:a="http://schemas.openxmlformats.org/drawingml/2006/main" noGrp="1"/>
          </p:cNvSpPr>
          <p:nvPr/>
        </p:nvSpPr>
        <p:spPr>
          <a:xfrm xmlns:a="http://schemas.openxmlformats.org/drawingml/2006/main">
            <a:off x="685800" y="609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3C34"/>
                </a:solidFill>
                <a:latin typeface="Liberation Sans"/>
                <a:ea typeface="Liberation Sans"/>
                <a:cs typeface="Liberation Sans"/>
              </a:defRPr>
            </a:defPPr>
          </a:lstStyle>
          <a:p xmlns:a="http://schemas.openxmlformats.org/drawingml/2006/main">
            <a:pPr algn="l">
              <a:defRPr sz="3600" b="1">
                <a:solidFill>
                  <a:srgbClr val="173C34"/>
                </a:solidFill>
                <a:latin typeface="Liberation Sans"/>
                <a:ea typeface="Liberation Sans"/>
                <a:cs typeface="Liberation Sans"/>
              </a:defRPr>
            </a:pPr>
            <a:r>
              <a:rPr sz="3600" b="1">
                <a:solidFill>
                  <a:srgbClr val="173C34"/>
                </a:solidFill>
                <a:latin typeface="Liberation Sans"/>
                <a:ea typeface="Liberation Sans"/>
                <a:cs typeface="Liberation Sans"/>
              </a:rPr>
              <a:t>REST API and database</a:t>
            </a:r>
          </a:p>
        </p:txBody>
      </p:sp>
      <p:sp>
        <p:nvSpPr>
          <p:cNvPr id="2" name="QueueDesk">
            <a:extLst xmlns:a="http://schemas.openxmlformats.org/drawingml/2006/main">
              <a:ext uri="{FF2B5EF4-FFF2-40B4-BE49-F238E27FC236}">
                <a16:creationId xmlns:a16="http://schemas.microsoft.com/office/drawing/2014/main" id="{EF08579C-6A5E-4864-A7C9-2F3753CF587C}"/>
              </a:ext>
            </a:extLst>
          </p:cNvPr>
          <p:cNvSpPr>
            <a:spLocks xmlns:a="http://schemas.openxmlformats.org/drawingml/2006/main" noGrp="1"/>
          </p:cNvSpPr>
          <p:nvPr/>
        </p:nvSpPr>
        <p:spPr>
          <a:xfrm xmlns:a="http://schemas.openxmlformats.org/drawingml/2006/main">
            <a:off x="685800" y="63341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57A71"/>
                </a:solidFill>
                <a:latin typeface="Liberation Sans"/>
                <a:ea typeface="Liberation Sans"/>
                <a:cs typeface="Liberation Sans"/>
              </a:defRPr>
            </a:defPPr>
          </a:lstStyle>
          <a:p xmlns:a="http://schemas.openxmlformats.org/drawingml/2006/main">
            <a:pPr algn="l">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QueueDesk</a:t>
            </a:r>
          </a:p>
        </p:txBody>
      </p:sp>
      <p:sp>
        <p:nvSpPr>
          <p:cNvPr id="3" name="04">
            <a:extLst xmlns:a="http://schemas.openxmlformats.org/drawingml/2006/main">
              <a:ext uri="{FF2B5EF4-FFF2-40B4-BE49-F238E27FC236}">
                <a16:creationId xmlns:a16="http://schemas.microsoft.com/office/drawing/2014/main" id="{47A75517-3564-4BA0-B99A-157C5C9256B5}"/>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57A71"/>
                </a:solidFill>
                <a:latin typeface="Liberation Sans"/>
                <a:ea typeface="Liberation Sans"/>
                <a:cs typeface="Liberation Sans"/>
              </a:defRPr>
            </a:defPPr>
          </a:lstStyle>
          <a:p xmlns:a="http://schemas.openxmlformats.org/drawingml/2006/main">
            <a:pPr algn="r">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04</a:t>
            </a:r>
          </a:p>
        </p:txBody>
      </p:sp>
      <p:graphicFrame>
        <p:nvGraphicFramePr>
          <p:cNvPr id="4" name="">
            <a:extLst xmlns:a="http://schemas.openxmlformats.org/drawingml/2006/main">
              <a:ext uri="{FF2B5EF4-FFF2-40B4-BE49-F238E27FC236}">
                <a16:creationId xmlns:a16="http://schemas.microsoft.com/office/drawing/2014/main" id="{6229E625-B837-47AD-A5EF-574B859BE99B}"/>
              </a:ext>
            </a:extLst>
          </p:cNvPr>
          <p:cNvGraphicFramePr/>
          <p:nvPr/>
        </p:nvGraphicFramePr>
        <p:xfrm>
          <a:off xmlns:a="http://schemas.openxmlformats.org/drawingml/2006/main" x="685800" y="1590675"/>
          <a:ext xmlns:a="http://schemas.openxmlformats.org/drawingml/2006/main" cx="10820400" cy="3543300"/>
        </p:xfrm>
        <a:graphic xmlns:a="http://schemas.openxmlformats.org/drawingml/2006/main">
          <a:graphicData uri="http://schemas.openxmlformats.org/drawingml/2006/table">
            <a:tbl>
              <a:tblPr firstRow="1" bandRow="0"/>
              <a:tblGrid>
                <a:gridCol w="1428750"/>
                <a:gridCol w="4476750"/>
                <a:gridCol w="4914900"/>
              </a:tblGrid>
              <a:tr h="590550">
                <a:tc>
                  <a:txBody>
                    <a:bodyPr/>
                    <a:lstStyle/>
                    <a:p>
                      <a:r>
                        <a:rPr sz="1875" b="1">
                          <a:solidFill>
                            <a:srgbClr val="FFFFFF"/>
                          </a:solidFill>
                          <a:latin typeface="Liberation Sans"/>
                          <a:ea typeface="Liberation Sans"/>
                          <a:cs typeface="Liberation Sans"/>
                        </a:rPr>
                        <a:t>Method</a:t>
                      </a:r>
                    </a:p>
                  </a:txBody>
                  <a:tcPr marL="91440" marR="91440" marT="45720" marB="45720" anchor="ctr">
                    <a:lnL w="7620">
                      <a:solidFill>
                        <a:srgbClr val="DDE6DF"/>
                      </a:solidFill>
                      <a:prstDash val="solid"/>
                    </a:lnL>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c>
                  <a:txBody>
                    <a:bodyPr/>
                    <a:lstStyle/>
                    <a:p>
                      <a:r>
                        <a:rPr sz="1875" b="1">
                          <a:solidFill>
                            <a:srgbClr val="FFFFFF"/>
                          </a:solidFill>
                          <a:latin typeface="Liberation Sans"/>
                          <a:ea typeface="Liberation Sans"/>
                          <a:cs typeface="Liberation Sans"/>
                        </a:rPr>
                        <a:t>Endpoint</a:t>
                      </a:r>
                    </a:p>
                  </a:txBody>
                  <a:tcPr marL="91440" marR="91440" marT="45720" marB="45720" anchor="ctr">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c>
                  <a:txBody>
                    <a:bodyPr/>
                    <a:lstStyle/>
                    <a:p>
                      <a:r>
                        <a:rPr sz="1875" b="1">
                          <a:solidFill>
                            <a:srgbClr val="FFFFFF"/>
                          </a:solidFill>
                          <a:latin typeface="Liberation Sans"/>
                          <a:ea typeface="Liberation Sans"/>
                          <a:cs typeface="Liberation Sans"/>
                        </a:rPr>
                        <a:t>Operation</a:t>
                      </a:r>
                    </a:p>
                  </a:txBody>
                  <a:tcPr marL="91440" marR="91440" marT="45720" marB="45720" anchor="ctr">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r>
              <a:tr h="590550">
                <a:tc>
                  <a:txBody>
                    <a:bodyPr/>
                    <a:lstStyle/>
                    <a:p>
                      <a:r>
                        <a:rPr sz="1875" b="1">
                          <a:solidFill>
                            <a:srgbClr val="344C45"/>
                          </a:solidFill>
                          <a:latin typeface="Liberation Sans"/>
                          <a:ea typeface="Liberation Sans"/>
                          <a:cs typeface="Liberation Sans"/>
                        </a:rPr>
                        <a:t>GET</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/api/tickets</a:t>
                      </a:r>
                    </a:p>
                  </a:txBody>
                  <a:tcPr marL="91440" marR="91440" marT="45720" marB="45720" anchor="ctr">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List, search and filter</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r h="590550">
                <a:tc>
                  <a:txBody>
                    <a:bodyPr/>
                    <a:lstStyle/>
                    <a:p>
                      <a:r>
                        <a:rPr sz="1875" b="1">
                          <a:solidFill>
                            <a:srgbClr val="344C45"/>
                          </a:solidFill>
                          <a:latin typeface="Liberation Sans"/>
                          <a:ea typeface="Liberation Sans"/>
                          <a:cs typeface="Liberation Sans"/>
                        </a:rPr>
                        <a:t>GET</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/api/tickets/{id}</a:t>
                      </a:r>
                    </a:p>
                  </a:txBody>
                  <a:tcPr marL="91440" marR="91440" marT="45720" marB="45720" anchor="ctr">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Read one ticket</a:t>
                      </a:r>
                    </a:p>
                  </a:txBody>
                  <a:tcPr marL="91440" marR="91440" marT="45720" marB="45720" anchor="ctr">
                    <a:lnR w="7620">
                      <a:solidFill>
                        <a:srgbClr val="DDE6DF"/>
                      </a:solidFill>
                      <a:prstDash val="solid"/>
                    </a:lnR>
                    <a:lnB w="7620">
                      <a:solidFill>
                        <a:srgbClr val="DDE6DF"/>
                      </a:solidFill>
                      <a:prstDash val="solid"/>
                    </a:lnB>
                    <a:solidFill>
                      <a:srgbClr val="EDF2ED"/>
                    </a:solidFill>
                  </a:tcPr>
                </a:tc>
              </a:tr>
              <a:tr h="590550">
                <a:tc>
                  <a:txBody>
                    <a:bodyPr/>
                    <a:lstStyle/>
                    <a:p>
                      <a:r>
                        <a:rPr sz="1875" b="1">
                          <a:solidFill>
                            <a:srgbClr val="344C45"/>
                          </a:solidFill>
                          <a:latin typeface="Liberation Sans"/>
                          <a:ea typeface="Liberation Sans"/>
                          <a:cs typeface="Liberation Sans"/>
                        </a:rPr>
                        <a:t>POST</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/api/tickets</a:t>
                      </a:r>
                    </a:p>
                  </a:txBody>
                  <a:tcPr marL="91440" marR="91440" marT="45720" marB="45720" anchor="ctr">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Create a ticket</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r h="590550">
                <a:tc>
                  <a:txBody>
                    <a:bodyPr/>
                    <a:lstStyle/>
                    <a:p>
                      <a:r>
                        <a:rPr sz="1875" b="1">
                          <a:solidFill>
                            <a:srgbClr val="344C45"/>
                          </a:solidFill>
                          <a:latin typeface="Liberation Sans"/>
                          <a:ea typeface="Liberation Sans"/>
                          <a:cs typeface="Liberation Sans"/>
                        </a:rPr>
                        <a:t>PUT</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/api/tickets/{id}</a:t>
                      </a:r>
                    </a:p>
                  </a:txBody>
                  <a:tcPr marL="91440" marR="91440" marT="45720" marB="45720" anchor="ctr">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Update ticket details</a:t>
                      </a:r>
                    </a:p>
                  </a:txBody>
                  <a:tcPr marL="91440" marR="91440" marT="45720" marB="45720" anchor="ctr">
                    <a:lnR w="7620">
                      <a:solidFill>
                        <a:srgbClr val="DDE6DF"/>
                      </a:solidFill>
                      <a:prstDash val="solid"/>
                    </a:lnR>
                    <a:lnB w="7620">
                      <a:solidFill>
                        <a:srgbClr val="DDE6DF"/>
                      </a:solidFill>
                      <a:prstDash val="solid"/>
                    </a:lnB>
                    <a:solidFill>
                      <a:srgbClr val="EDF2ED"/>
                    </a:solidFill>
                  </a:tcPr>
                </a:tc>
              </a:tr>
              <a:tr h="590550">
                <a:tc>
                  <a:txBody>
                    <a:bodyPr/>
                    <a:lstStyle/>
                    <a:p>
                      <a:r>
                        <a:rPr sz="1875" b="1">
                          <a:solidFill>
                            <a:srgbClr val="344C45"/>
                          </a:solidFill>
                          <a:latin typeface="Liberation Sans"/>
                          <a:ea typeface="Liberation Sans"/>
                          <a:cs typeface="Liberation Sans"/>
                        </a:rPr>
                        <a:t>DELETE</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/api/tickets/{id}</a:t>
                      </a:r>
                    </a:p>
                  </a:txBody>
                  <a:tcPr marL="91440" marR="91440" marT="45720" marB="45720" anchor="ctr">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Delete a ticket</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bl>
          </a:graphicData>
        </a:graphic>
      </p:graphicFrame>
      <p:sp>
        <p:nvSpPr>
          <p:cNvPr id="5" name="SQLAlchemy defines the ticket model. Alembic ">
            <a:extLst xmlns:a="http://schemas.openxmlformats.org/drawingml/2006/main">
              <a:ext uri="{FF2B5EF4-FFF2-40B4-BE49-F238E27FC236}">
                <a16:creationId xmlns:a16="http://schemas.microsoft.com/office/drawing/2014/main" id="{73B555C9-0C00-44D6-9148-AFCCBF896E4D}"/>
              </a:ext>
            </a:extLst>
          </p:cNvPr>
          <p:cNvSpPr>
            <a:spLocks xmlns:a="http://schemas.openxmlformats.org/drawingml/2006/main" noGrp="1"/>
          </p:cNvSpPr>
          <p:nvPr/>
        </p:nvSpPr>
        <p:spPr>
          <a:xfrm xmlns:a="http://schemas.openxmlformats.org/drawingml/2006/main">
            <a:off x="685800" y="54387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44C45"/>
                </a:solidFill>
                <a:latin typeface="Liberation Sans"/>
                <a:ea typeface="Liberation Sans"/>
                <a:cs typeface="Liberation Sans"/>
              </a:defRPr>
            </a:defPPr>
          </a:lstStyle>
          <a:p xmlns:a="http://schemas.openxmlformats.org/drawingml/2006/main">
            <a:pPr algn="l">
              <a:defRPr sz="2100" b="0">
                <a:solidFill>
                  <a:srgbClr val="344C45"/>
                </a:solidFill>
                <a:latin typeface="Liberation Sans"/>
                <a:ea typeface="Liberation Sans"/>
                <a:cs typeface="Liberation Sans"/>
              </a:defRPr>
            </a:pPr>
            <a:r>
              <a:rPr sz="2100" b="0">
                <a:solidFill>
                  <a:srgbClr val="344C45"/>
                </a:solidFill>
                <a:latin typeface="Liberation Sans"/>
                <a:ea typeface="Liberation Sans"/>
                <a:cs typeface="Liberation Sans"/>
              </a:rPr>
              <a:t>SQLAlchemy defines the ticket model. Alembic manages schema changes.</a:t>
            </a:r>
          </a:p>
        </p:txBody>
      </p:sp>
    </p:spTree>
    <p:extLst>
      <p:ext uri="{BB962C8B-B14F-4D97-AF65-F5344CB8AC3E}">
        <p14:creationId xmlns:p14="http://schemas.microsoft.com/office/powerpoint/2010/main" val="637729730"/>
      </p:ext>
    </p:extLst>
  </p:cSld>
</p:sld>
</file>

<file path=ppt/slides/slide5.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8" name="Local deployment">
            <a:extLst xmlns:a="http://schemas.openxmlformats.org/drawingml/2006/main">
              <a:ext uri="{FF2B5EF4-FFF2-40B4-BE49-F238E27FC236}">
                <a16:creationId xmlns:a16="http://schemas.microsoft.com/office/drawing/2014/main" id="{5E122FD0-3A70-423C-A0B2-D672BA690FCA}"/>
              </a:ext>
            </a:extLst>
          </p:cNvPr>
          <p:cNvSpPr>
            <a:spLocks xmlns:a="http://schemas.openxmlformats.org/drawingml/2006/main" noGrp="1"/>
          </p:cNvSpPr>
          <p:nvPr/>
        </p:nvSpPr>
        <p:spPr>
          <a:xfrm xmlns:a="http://schemas.openxmlformats.org/drawingml/2006/main">
            <a:off x="685800" y="609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3C34"/>
                </a:solidFill>
                <a:latin typeface="Liberation Sans"/>
                <a:ea typeface="Liberation Sans"/>
                <a:cs typeface="Liberation Sans"/>
              </a:defRPr>
            </a:defPPr>
          </a:lstStyle>
          <a:p xmlns:a="http://schemas.openxmlformats.org/drawingml/2006/main">
            <a:pPr algn="l">
              <a:defRPr sz="3600" b="1">
                <a:solidFill>
                  <a:srgbClr val="173C34"/>
                </a:solidFill>
                <a:latin typeface="Liberation Sans"/>
                <a:ea typeface="Liberation Sans"/>
                <a:cs typeface="Liberation Sans"/>
              </a:defRPr>
            </a:pPr>
            <a:r>
              <a:rPr sz="3600" b="1">
                <a:solidFill>
                  <a:srgbClr val="173C34"/>
                </a:solidFill>
                <a:latin typeface="Liberation Sans"/>
                <a:ea typeface="Liberation Sans"/>
                <a:cs typeface="Liberation Sans"/>
              </a:rPr>
              <a:t>Local deployment</a:t>
            </a:r>
          </a:p>
        </p:txBody>
      </p:sp>
      <p:sp>
        <p:nvSpPr>
          <p:cNvPr id="2" name="QueueDesk">
            <a:extLst xmlns:a="http://schemas.openxmlformats.org/drawingml/2006/main">
              <a:ext uri="{FF2B5EF4-FFF2-40B4-BE49-F238E27FC236}">
                <a16:creationId xmlns:a16="http://schemas.microsoft.com/office/drawing/2014/main" id="{9E497F27-4670-431E-BE76-412D48F8647D}"/>
              </a:ext>
            </a:extLst>
          </p:cNvPr>
          <p:cNvSpPr>
            <a:spLocks xmlns:a="http://schemas.openxmlformats.org/drawingml/2006/main" noGrp="1"/>
          </p:cNvSpPr>
          <p:nvPr/>
        </p:nvSpPr>
        <p:spPr>
          <a:xfrm xmlns:a="http://schemas.openxmlformats.org/drawingml/2006/main">
            <a:off x="685800" y="63341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57A71"/>
                </a:solidFill>
                <a:latin typeface="Liberation Sans"/>
                <a:ea typeface="Liberation Sans"/>
                <a:cs typeface="Liberation Sans"/>
              </a:defRPr>
            </a:defPPr>
          </a:lstStyle>
          <a:p xmlns:a="http://schemas.openxmlformats.org/drawingml/2006/main">
            <a:pPr algn="l">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QueueDesk</a:t>
            </a:r>
          </a:p>
        </p:txBody>
      </p:sp>
      <p:sp>
        <p:nvSpPr>
          <p:cNvPr id="3" name="05">
            <a:extLst xmlns:a="http://schemas.openxmlformats.org/drawingml/2006/main">
              <a:ext uri="{FF2B5EF4-FFF2-40B4-BE49-F238E27FC236}">
                <a16:creationId xmlns:a16="http://schemas.microsoft.com/office/drawing/2014/main" id="{352F9F8C-D23D-4A8C-956D-5E54800A542A}"/>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57A71"/>
                </a:solidFill>
                <a:latin typeface="Liberation Sans"/>
                <a:ea typeface="Liberation Sans"/>
                <a:cs typeface="Liberation Sans"/>
              </a:defRPr>
            </a:defPPr>
          </a:lstStyle>
          <a:p xmlns:a="http://schemas.openxmlformats.org/drawingml/2006/main">
            <a:pPr algn="r">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05</a:t>
            </a:r>
          </a:p>
        </p:txBody>
      </p:sp>
      <p:sp>
        <p:nvSpPr>
          <p:cNvPr id="4" name="BACKEND_PORT=18001 docker compose up --build ">
            <a:extLst xmlns:a="http://schemas.openxmlformats.org/drawingml/2006/main">
              <a:ext uri="{FF2B5EF4-FFF2-40B4-BE49-F238E27FC236}">
                <a16:creationId xmlns:a16="http://schemas.microsoft.com/office/drawing/2014/main" id="{512AF2FE-D44A-4619-BE09-EAC0657390FA}"/>
              </a:ext>
            </a:extLst>
          </p:cNvPr>
          <p:cNvSpPr>
            <a:spLocks xmlns:a="http://schemas.openxmlformats.org/drawingml/2006/main" noGrp="1"/>
          </p:cNvSpPr>
          <p:nvPr/>
        </p:nvSpPr>
        <p:spPr>
          <a:xfrm xmlns:a="http://schemas.openxmlformats.org/drawingml/2006/main">
            <a:off x="685800" y="16383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8745B"/>
                </a:solidFill>
                <a:latin typeface="Liberation Sans"/>
                <a:ea typeface="Liberation Sans"/>
                <a:cs typeface="Liberation Sans"/>
              </a:defRPr>
            </a:defPPr>
          </a:lstStyle>
          <a:p xmlns:a="http://schemas.openxmlformats.org/drawingml/2006/main">
            <a:pPr algn="l">
              <a:defRPr sz="2100" b="1">
                <a:solidFill>
                  <a:srgbClr val="28745B"/>
                </a:solidFill>
                <a:latin typeface="Liberation Sans"/>
                <a:ea typeface="Liberation Sans"/>
                <a:cs typeface="Liberation Sans"/>
              </a:defRPr>
            </a:pPr>
            <a:r>
              <a:rPr sz="2100" b="1">
                <a:solidFill>
                  <a:srgbClr val="28745B"/>
                </a:solidFill>
                <a:latin typeface="Liberation Sans"/>
                <a:ea typeface="Liberation Sans"/>
                <a:cs typeface="Liberation Sans"/>
              </a:rPr>
              <a:t>BACKEND_PORT=18001 docker compose up --build -d --wait</a:t>
            </a:r>
          </a:p>
        </p:txBody>
      </p:sp>
      <p:sp>
        <p:nvSpPr>
          <p:cNvPr id="5" name="docker compose ps -a">
            <a:extLst xmlns:a="http://schemas.openxmlformats.org/drawingml/2006/main">
              <a:ext uri="{FF2B5EF4-FFF2-40B4-BE49-F238E27FC236}">
                <a16:creationId xmlns:a16="http://schemas.microsoft.com/office/drawing/2014/main" id="{30C1A543-23B0-4F43-B25E-319143220724}"/>
              </a:ext>
            </a:extLst>
          </p:cNvPr>
          <p:cNvSpPr>
            <a:spLocks xmlns:a="http://schemas.openxmlformats.org/drawingml/2006/main" noGrp="1"/>
          </p:cNvSpPr>
          <p:nvPr/>
        </p:nvSpPr>
        <p:spPr>
          <a:xfrm xmlns:a="http://schemas.openxmlformats.org/drawingml/2006/main">
            <a:off x="685800" y="22288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C34"/>
                </a:solidFill>
                <a:latin typeface="Liberation Sans"/>
                <a:ea typeface="Liberation Sans"/>
                <a:cs typeface="Liberation Sans"/>
              </a:defRPr>
            </a:defPPr>
          </a:lstStyle>
          <a:p xmlns:a="http://schemas.openxmlformats.org/drawingml/2006/main">
            <a:pPr algn="l">
              <a:defRPr sz="2100" b="0">
                <a:solidFill>
                  <a:srgbClr val="173C34"/>
                </a:solidFill>
                <a:latin typeface="Liberation Sans"/>
                <a:ea typeface="Liberation Sans"/>
                <a:cs typeface="Liberation Sans"/>
              </a:defRPr>
            </a:pPr>
            <a:r>
              <a:rPr sz="2100" b="0">
                <a:solidFill>
                  <a:srgbClr val="173C34"/>
                </a:solidFill>
                <a:latin typeface="Liberation Sans"/>
                <a:ea typeface="Liberation Sans"/>
                <a:cs typeface="Liberation Sans"/>
              </a:rPr>
              <a:t>docker compose ps -a</a:t>
            </a:r>
          </a:p>
        </p:txBody>
      </p:sp>
      <p:graphicFrame>
        <p:nvGraphicFramePr>
          <p:cNvPr id="6" name="">
            <a:extLst xmlns:a="http://schemas.openxmlformats.org/drawingml/2006/main">
              <a:ext uri="{FF2B5EF4-FFF2-40B4-BE49-F238E27FC236}">
                <a16:creationId xmlns:a16="http://schemas.microsoft.com/office/drawing/2014/main" id="{9CEE98FE-B985-4CCE-879A-9323864B6810}"/>
              </a:ext>
            </a:extLst>
          </p:cNvPr>
          <p:cNvGraphicFramePr/>
          <p:nvPr/>
        </p:nvGraphicFramePr>
        <p:xfrm>
          <a:off xmlns:a="http://schemas.openxmlformats.org/drawingml/2006/main" x="685800" y="2924175"/>
          <a:ext xmlns:a="http://schemas.openxmlformats.org/drawingml/2006/main" cx="10820400" cy="2619375"/>
        </p:xfrm>
        <a:graphic xmlns:a="http://schemas.openxmlformats.org/drawingml/2006/main">
          <a:graphicData uri="http://schemas.openxmlformats.org/drawingml/2006/table">
            <a:tbl>
              <a:tblPr firstRow="1" bandRow="0"/>
              <a:tblGrid>
                <a:gridCol w="2428875"/>
                <a:gridCol w="8391525"/>
              </a:tblGrid>
              <a:tr h="523875">
                <a:tc>
                  <a:txBody>
                    <a:bodyPr/>
                    <a:lstStyle/>
                    <a:p>
                      <a:r>
                        <a:rPr sz="1875" b="1">
                          <a:solidFill>
                            <a:srgbClr val="FFFFFF"/>
                          </a:solidFill>
                          <a:latin typeface="Liberation Sans"/>
                          <a:ea typeface="Liberation Sans"/>
                          <a:cs typeface="Liberation Sans"/>
                        </a:rPr>
                        <a:t>Service</a:t>
                      </a:r>
                    </a:p>
                  </a:txBody>
                  <a:tcPr marL="91440" marR="91440" marT="45720" marB="45720" anchor="ctr">
                    <a:lnL w="7620">
                      <a:solidFill>
                        <a:srgbClr val="DDE6DF"/>
                      </a:solidFill>
                      <a:prstDash val="solid"/>
                    </a:lnL>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c>
                  <a:txBody>
                    <a:bodyPr/>
                    <a:lstStyle/>
                    <a:p>
                      <a:r>
                        <a:rPr sz="1875" b="1">
                          <a:solidFill>
                            <a:srgbClr val="FFFFFF"/>
                          </a:solidFill>
                          <a:latin typeface="Liberation Sans"/>
                          <a:ea typeface="Liberation Sans"/>
                          <a:cs typeface="Liberation Sans"/>
                        </a:rPr>
                        <a:t>Expected result</a:t>
                      </a:r>
                    </a:p>
                  </a:txBody>
                  <a:tcPr marL="91440" marR="91440" marT="45720" marB="45720" anchor="ctr">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r>
              <a:tr h="523875">
                <a:tc>
                  <a:txBody>
                    <a:bodyPr/>
                    <a:lstStyle/>
                    <a:p>
                      <a:r>
                        <a:rPr sz="1875" b="1">
                          <a:solidFill>
                            <a:srgbClr val="344C45"/>
                          </a:solidFill>
                          <a:latin typeface="Liberation Sans"/>
                          <a:ea typeface="Liberation Sans"/>
                          <a:cs typeface="Liberation Sans"/>
                        </a:rPr>
                        <a:t>Frontend</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Healthy at http://localhost:3000</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r h="523875">
                <a:tc>
                  <a:txBody>
                    <a:bodyPr/>
                    <a:lstStyle/>
                    <a:p>
                      <a:r>
                        <a:rPr sz="1875" b="1">
                          <a:solidFill>
                            <a:srgbClr val="344C45"/>
                          </a:solidFill>
                          <a:latin typeface="Liberation Sans"/>
                          <a:ea typeface="Liberation Sans"/>
                          <a:cs typeface="Liberation Sans"/>
                        </a:rPr>
                        <a:t>Backend</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Healthy with API docs at http://localhost:18001/docs</a:t>
                      </a:r>
                    </a:p>
                  </a:txBody>
                  <a:tcPr marL="91440" marR="91440" marT="45720" marB="45720" anchor="ctr">
                    <a:lnR w="7620">
                      <a:solidFill>
                        <a:srgbClr val="DDE6DF"/>
                      </a:solidFill>
                      <a:prstDash val="solid"/>
                    </a:lnR>
                    <a:lnB w="7620">
                      <a:solidFill>
                        <a:srgbClr val="DDE6DF"/>
                      </a:solidFill>
                      <a:prstDash val="solid"/>
                    </a:lnB>
                    <a:solidFill>
                      <a:srgbClr val="EDF2ED"/>
                    </a:solidFill>
                  </a:tcPr>
                </a:tc>
              </a:tr>
              <a:tr h="523875">
                <a:tc>
                  <a:txBody>
                    <a:bodyPr/>
                    <a:lstStyle/>
                    <a:p>
                      <a:r>
                        <a:rPr sz="1875" b="1">
                          <a:solidFill>
                            <a:srgbClr val="344C45"/>
                          </a:solidFill>
                          <a:latin typeface="Liberation Sans"/>
                          <a:ea typeface="Liberation Sans"/>
                          <a:cs typeface="Liberation Sans"/>
                        </a:rPr>
                        <a:t>PostgreSQL</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Healthy with data in the postgres-data volume</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r h="523875">
                <a:tc>
                  <a:txBody>
                    <a:bodyPr/>
                    <a:lstStyle/>
                    <a:p>
                      <a:r>
                        <a:rPr sz="1875" b="1">
                          <a:solidFill>
                            <a:srgbClr val="344C45"/>
                          </a:solidFill>
                          <a:latin typeface="Liberation Sans"/>
                          <a:ea typeface="Liberation Sans"/>
                          <a:cs typeface="Liberation Sans"/>
                        </a:rPr>
                        <a:t>Migration</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Exited (0) after alembic upgrade head</a:t>
                      </a:r>
                    </a:p>
                  </a:txBody>
                  <a:tcPr marL="91440" marR="91440" marT="45720" marB="45720" anchor="ctr">
                    <a:lnR w="7620">
                      <a:solidFill>
                        <a:srgbClr val="DDE6DF"/>
                      </a:solidFill>
                      <a:prstDash val="solid"/>
                    </a:lnR>
                    <a:lnB w="7620">
                      <a:solidFill>
                        <a:srgbClr val="DDE6DF"/>
                      </a:solidFill>
                      <a:prstDash val="solid"/>
                    </a:lnB>
                    <a:solidFill>
                      <a:srgbClr val="EDF2ED"/>
                    </a:solidFill>
                  </a:tcPr>
                </a:tc>
              </a:tr>
            </a:tbl>
          </a:graphicData>
        </a:graphic>
      </p:graphicFrame>
      <p:sp>
        <p:nvSpPr>
          <p:cNvPr id="7" name="Shutdown: docker compose down">
            <a:extLst xmlns:a="http://schemas.openxmlformats.org/drawingml/2006/main">
              <a:ext uri="{FF2B5EF4-FFF2-40B4-BE49-F238E27FC236}">
                <a16:creationId xmlns:a16="http://schemas.microsoft.com/office/drawing/2014/main" id="{E438F61A-82E3-41C3-A713-2D461F1F52B9}"/>
              </a:ext>
            </a:extLst>
          </p:cNvPr>
          <p:cNvSpPr>
            <a:spLocks xmlns:a="http://schemas.openxmlformats.org/drawingml/2006/main" noGrp="1"/>
          </p:cNvSpPr>
          <p:nvPr/>
        </p:nvSpPr>
        <p:spPr>
          <a:xfrm xmlns:a="http://schemas.openxmlformats.org/drawingml/2006/main">
            <a:off x="685800" y="57150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745B"/>
                </a:solidFill>
                <a:latin typeface="Liberation Sans"/>
                <a:ea typeface="Liberation Sans"/>
                <a:cs typeface="Liberation Sans"/>
              </a:defRPr>
            </a:defPPr>
          </a:lstStyle>
          <a:p xmlns:a="http://schemas.openxmlformats.org/drawingml/2006/main">
            <a:pPr algn="l">
              <a:defRPr sz="2025" b="0">
                <a:solidFill>
                  <a:srgbClr val="28745B"/>
                </a:solidFill>
                <a:latin typeface="Liberation Sans"/>
                <a:ea typeface="Liberation Sans"/>
                <a:cs typeface="Liberation Sans"/>
              </a:defRPr>
            </a:pPr>
            <a:r>
              <a:rPr sz="2025" b="0">
                <a:solidFill>
                  <a:srgbClr val="28745B"/>
                </a:solidFill>
                <a:latin typeface="Liberation Sans"/>
                <a:ea typeface="Liberation Sans"/>
                <a:cs typeface="Liberation Sans"/>
              </a:rPr>
              <a:t>Shutdown: docker compose down</a:t>
            </a:r>
          </a:p>
        </p:txBody>
      </p:sp>
    </p:spTree>
    <p:extLst>
      <p:ext uri="{BB962C8B-B14F-4D97-AF65-F5344CB8AC3E}">
        <p14:creationId xmlns:p14="http://schemas.microsoft.com/office/powerpoint/2010/main" val="814360728"/>
      </p:ext>
    </p:extLst>
  </p:cSld>
</p:sld>
</file>

<file path=ppt/slides/slide6.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1" name="Testing and health checks">
            <a:extLst xmlns:a="http://schemas.openxmlformats.org/drawingml/2006/main">
              <a:ext uri="{FF2B5EF4-FFF2-40B4-BE49-F238E27FC236}">
                <a16:creationId xmlns:a16="http://schemas.microsoft.com/office/drawing/2014/main" id="{5321109F-1230-4796-9744-8C7955988DF9}"/>
              </a:ext>
            </a:extLst>
          </p:cNvPr>
          <p:cNvSpPr>
            <a:spLocks xmlns:a="http://schemas.openxmlformats.org/drawingml/2006/main" noGrp="1"/>
          </p:cNvSpPr>
          <p:nvPr/>
        </p:nvSpPr>
        <p:spPr>
          <a:xfrm xmlns:a="http://schemas.openxmlformats.org/drawingml/2006/main">
            <a:off x="685800" y="609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3C34"/>
                </a:solidFill>
                <a:latin typeface="Liberation Sans"/>
                <a:ea typeface="Liberation Sans"/>
                <a:cs typeface="Liberation Sans"/>
              </a:defRPr>
            </a:defPPr>
          </a:lstStyle>
          <a:p xmlns:a="http://schemas.openxmlformats.org/drawingml/2006/main">
            <a:pPr algn="l">
              <a:defRPr sz="3600" b="1">
                <a:solidFill>
                  <a:srgbClr val="173C34"/>
                </a:solidFill>
                <a:latin typeface="Liberation Sans"/>
                <a:ea typeface="Liberation Sans"/>
                <a:cs typeface="Liberation Sans"/>
              </a:defRPr>
            </a:pPr>
            <a:r>
              <a:rPr sz="3600" b="1">
                <a:solidFill>
                  <a:srgbClr val="173C34"/>
                </a:solidFill>
                <a:latin typeface="Liberation Sans"/>
                <a:ea typeface="Liberation Sans"/>
                <a:cs typeface="Liberation Sans"/>
              </a:rPr>
              <a:t>Testing and health checks</a:t>
            </a:r>
          </a:p>
        </p:txBody>
      </p:sp>
      <p:sp>
        <p:nvSpPr>
          <p:cNvPr id="2" name="QueueDesk">
            <a:extLst xmlns:a="http://schemas.openxmlformats.org/drawingml/2006/main">
              <a:ext uri="{FF2B5EF4-FFF2-40B4-BE49-F238E27FC236}">
                <a16:creationId xmlns:a16="http://schemas.microsoft.com/office/drawing/2014/main" id="{F20EED96-9D14-41E5-9714-BF22150B6892}"/>
              </a:ext>
            </a:extLst>
          </p:cNvPr>
          <p:cNvSpPr>
            <a:spLocks xmlns:a="http://schemas.openxmlformats.org/drawingml/2006/main" noGrp="1"/>
          </p:cNvSpPr>
          <p:nvPr/>
        </p:nvSpPr>
        <p:spPr>
          <a:xfrm xmlns:a="http://schemas.openxmlformats.org/drawingml/2006/main">
            <a:off x="685800" y="63341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57A71"/>
                </a:solidFill>
                <a:latin typeface="Liberation Sans"/>
                <a:ea typeface="Liberation Sans"/>
                <a:cs typeface="Liberation Sans"/>
              </a:defRPr>
            </a:defPPr>
          </a:lstStyle>
          <a:p xmlns:a="http://schemas.openxmlformats.org/drawingml/2006/main">
            <a:pPr algn="l">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QueueDesk</a:t>
            </a:r>
          </a:p>
        </p:txBody>
      </p:sp>
      <p:sp>
        <p:nvSpPr>
          <p:cNvPr id="3" name="06">
            <a:extLst xmlns:a="http://schemas.openxmlformats.org/drawingml/2006/main">
              <a:ext uri="{FF2B5EF4-FFF2-40B4-BE49-F238E27FC236}">
                <a16:creationId xmlns:a16="http://schemas.microsoft.com/office/drawing/2014/main" id="{328C33E3-84FA-4935-A340-E14E89364792}"/>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57A71"/>
                </a:solidFill>
                <a:latin typeface="Liberation Sans"/>
                <a:ea typeface="Liberation Sans"/>
                <a:cs typeface="Liberation Sans"/>
              </a:defRPr>
            </a:defPPr>
          </a:lstStyle>
          <a:p xmlns:a="http://schemas.openxmlformats.org/drawingml/2006/main">
            <a:pPr algn="r">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06</a:t>
            </a:r>
          </a:p>
        </p:txBody>
      </p:sp>
      <p:sp>
        <p:nvSpPr>
          <p:cNvPr id="4" name="18">
            <a:extLst xmlns:a="http://schemas.openxmlformats.org/drawingml/2006/main">
              <a:ext uri="{FF2B5EF4-FFF2-40B4-BE49-F238E27FC236}">
                <a16:creationId xmlns:a16="http://schemas.microsoft.com/office/drawing/2014/main" id="{0DDAC575-115E-49A7-8C34-DE8B947B71FB}"/>
              </a:ext>
            </a:extLst>
          </p:cNvPr>
          <p:cNvSpPr>
            <a:spLocks xmlns:a="http://schemas.openxmlformats.org/drawingml/2006/main" noGrp="1"/>
          </p:cNvSpPr>
          <p:nvPr/>
        </p:nvSpPr>
        <p:spPr>
          <a:xfrm xmlns:a="http://schemas.openxmlformats.org/drawingml/2006/main">
            <a:off x="742950" y="1695450"/>
            <a:ext cx="285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0" b="1">
                <a:solidFill>
                  <a:srgbClr val="28745B"/>
                </a:solidFill>
                <a:latin typeface="Liberation Sans"/>
                <a:ea typeface="Liberation Sans"/>
                <a:cs typeface="Liberation Sans"/>
              </a:defRPr>
            </a:defPPr>
          </a:lstStyle>
          <a:p xmlns:a="http://schemas.openxmlformats.org/drawingml/2006/main">
            <a:pPr algn="l">
              <a:defRPr sz="10500" b="1">
                <a:solidFill>
                  <a:srgbClr val="28745B"/>
                </a:solidFill>
                <a:latin typeface="Liberation Sans"/>
                <a:ea typeface="Liberation Sans"/>
                <a:cs typeface="Liberation Sans"/>
              </a:defRPr>
            </a:pPr>
            <a:r>
              <a:rPr sz="10500" b="1">
                <a:solidFill>
                  <a:srgbClr val="28745B"/>
                </a:solidFill>
                <a:latin typeface="Liberation Sans"/>
                <a:ea typeface="Liberation Sans"/>
                <a:cs typeface="Liberation Sans"/>
              </a:rPr>
              <a:t>18</a:t>
            </a:r>
          </a:p>
        </p:txBody>
      </p:sp>
      <p:sp>
        <p:nvSpPr>
          <p:cNvPr id="5" name="backend tests passed">
            <a:extLst xmlns:a="http://schemas.openxmlformats.org/drawingml/2006/main">
              <a:ext uri="{FF2B5EF4-FFF2-40B4-BE49-F238E27FC236}">
                <a16:creationId xmlns:a16="http://schemas.microsoft.com/office/drawing/2014/main" id="{05824DF2-8A13-473C-8EE3-2F677C4B6C5D}"/>
              </a:ext>
            </a:extLst>
          </p:cNvPr>
          <p:cNvSpPr>
            <a:spLocks xmlns:a="http://schemas.openxmlformats.org/drawingml/2006/main" noGrp="1"/>
          </p:cNvSpPr>
          <p:nvPr/>
        </p:nvSpPr>
        <p:spPr>
          <a:xfrm xmlns:a="http://schemas.openxmlformats.org/drawingml/2006/main">
            <a:off x="781050" y="3381375"/>
            <a:ext cx="2857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C34"/>
                </a:solidFill>
                <a:latin typeface="Liberation Sans"/>
                <a:ea typeface="Liberation Sans"/>
                <a:cs typeface="Liberation Sans"/>
              </a:defRPr>
            </a:defPPr>
          </a:lstStyle>
          <a:p xmlns:a="http://schemas.openxmlformats.org/drawingml/2006/main">
            <a:pPr algn="l">
              <a:defRPr sz="2400" b="1">
                <a:solidFill>
                  <a:srgbClr val="173C34"/>
                </a:solidFill>
                <a:latin typeface="Liberation Sans"/>
                <a:ea typeface="Liberation Sans"/>
                <a:cs typeface="Liberation Sans"/>
              </a:defRPr>
            </a:pPr>
            <a:r>
              <a:rPr sz="2400" b="1">
                <a:solidFill>
                  <a:srgbClr val="173C34"/>
                </a:solidFill>
                <a:latin typeface="Liberation Sans"/>
                <a:ea typeface="Liberation Sans"/>
                <a:cs typeface="Liberation Sans"/>
              </a:rPr>
              <a:t>backend tests passed</a:t>
            </a:r>
          </a:p>
        </p:txBody>
      </p:sp>
      <p:sp>
        <p:nvSpPr>
          <p:cNvPr id="6" name="API coverage">
            <a:extLst xmlns:a="http://schemas.openxmlformats.org/drawingml/2006/main">
              <a:ext uri="{FF2B5EF4-FFF2-40B4-BE49-F238E27FC236}">
                <a16:creationId xmlns:a16="http://schemas.microsoft.com/office/drawing/2014/main" id="{91388D01-E71B-4CC6-8B82-FD1526194658}"/>
              </a:ext>
            </a:extLst>
          </p:cNvPr>
          <p:cNvSpPr>
            <a:spLocks xmlns:a="http://schemas.openxmlformats.org/drawingml/2006/main" noGrp="1"/>
          </p:cNvSpPr>
          <p:nvPr/>
        </p:nvSpPr>
        <p:spPr>
          <a:xfrm xmlns:a="http://schemas.openxmlformats.org/drawingml/2006/main">
            <a:off x="4286250" y="1714500"/>
            <a:ext cx="690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745B"/>
                </a:solidFill>
                <a:latin typeface="Liberation Sans"/>
                <a:ea typeface="Liberation Sans"/>
                <a:cs typeface="Liberation Sans"/>
              </a:defRPr>
            </a:defPPr>
          </a:lstStyle>
          <a:p xmlns:a="http://schemas.openxmlformats.org/drawingml/2006/main">
            <a:pPr algn="l">
              <a:defRPr sz="2175" b="1">
                <a:solidFill>
                  <a:srgbClr val="28745B"/>
                </a:solidFill>
                <a:latin typeface="Liberation Sans"/>
                <a:ea typeface="Liberation Sans"/>
                <a:cs typeface="Liberation Sans"/>
              </a:defRPr>
            </a:pPr>
            <a:r>
              <a:rPr sz="2175" b="1">
                <a:solidFill>
                  <a:srgbClr val="28745B"/>
                </a:solidFill>
                <a:latin typeface="Liberation Sans"/>
                <a:ea typeface="Liberation Sans"/>
                <a:cs typeface="Liberation Sans"/>
              </a:rPr>
              <a:t>API coverage</a:t>
            </a:r>
          </a:p>
        </p:txBody>
      </p:sp>
      <p:sp>
        <p:nvSpPr>
          <p:cNvPr id="7" name="CRUD, invalid inputs, missing tickets, filter">
            <a:extLst xmlns:a="http://schemas.openxmlformats.org/drawingml/2006/main">
              <a:ext uri="{FF2B5EF4-FFF2-40B4-BE49-F238E27FC236}">
                <a16:creationId xmlns:a16="http://schemas.microsoft.com/office/drawing/2014/main" id="{6D3E4941-8A2B-4B0B-9F07-234E768606C2}"/>
              </a:ext>
            </a:extLst>
          </p:cNvPr>
          <p:cNvSpPr>
            <a:spLocks xmlns:a="http://schemas.openxmlformats.org/drawingml/2006/main" noGrp="1"/>
          </p:cNvSpPr>
          <p:nvPr/>
        </p:nvSpPr>
        <p:spPr>
          <a:xfrm xmlns:a="http://schemas.openxmlformats.org/drawingml/2006/main">
            <a:off x="4286250" y="2190750"/>
            <a:ext cx="690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CRUD, invalid inputs, missing tickets, filters and pagination</a:t>
            </a:r>
          </a:p>
        </p:txBody>
      </p:sp>
      <p:sp>
        <p:nvSpPr>
          <p:cNvPr id="8" name="Database coverage">
            <a:extLst xmlns:a="http://schemas.openxmlformats.org/drawingml/2006/main">
              <a:ext uri="{FF2B5EF4-FFF2-40B4-BE49-F238E27FC236}">
                <a16:creationId xmlns:a16="http://schemas.microsoft.com/office/drawing/2014/main" id="{7E1F9F90-9C99-4713-B51B-FA3791BFB60E}"/>
              </a:ext>
            </a:extLst>
          </p:cNvPr>
          <p:cNvSpPr>
            <a:spLocks xmlns:a="http://schemas.openxmlformats.org/drawingml/2006/main" noGrp="1"/>
          </p:cNvSpPr>
          <p:nvPr/>
        </p:nvSpPr>
        <p:spPr>
          <a:xfrm xmlns:a="http://schemas.openxmlformats.org/drawingml/2006/main">
            <a:off x="4286250" y="3286125"/>
            <a:ext cx="690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745B"/>
                </a:solidFill>
                <a:latin typeface="Liberation Sans"/>
                <a:ea typeface="Liberation Sans"/>
                <a:cs typeface="Liberation Sans"/>
              </a:defRPr>
            </a:defPPr>
          </a:lstStyle>
          <a:p xmlns:a="http://schemas.openxmlformats.org/drawingml/2006/main">
            <a:pPr algn="l">
              <a:defRPr sz="2175" b="1">
                <a:solidFill>
                  <a:srgbClr val="28745B"/>
                </a:solidFill>
                <a:latin typeface="Liberation Sans"/>
                <a:ea typeface="Liberation Sans"/>
                <a:cs typeface="Liberation Sans"/>
              </a:defRPr>
            </a:pPr>
            <a:r>
              <a:rPr sz="2175" b="1">
                <a:solidFill>
                  <a:srgbClr val="28745B"/>
                </a:solidFill>
                <a:latin typeface="Liberation Sans"/>
                <a:ea typeface="Liberation Sans"/>
                <a:cs typeface="Liberation Sans"/>
              </a:rPr>
              <a:t>Database coverage</a:t>
            </a:r>
          </a:p>
        </p:txBody>
      </p:sp>
      <p:sp>
        <p:nvSpPr>
          <p:cNvPr id="9" name="Isolated test databases and migration upgrade">
            <a:extLst xmlns:a="http://schemas.openxmlformats.org/drawingml/2006/main">
              <a:ext uri="{FF2B5EF4-FFF2-40B4-BE49-F238E27FC236}">
                <a16:creationId xmlns:a16="http://schemas.microsoft.com/office/drawing/2014/main" id="{54EC085F-C464-4A7A-B41C-D1DFA3EBFC39}"/>
              </a:ext>
            </a:extLst>
          </p:cNvPr>
          <p:cNvSpPr>
            <a:spLocks xmlns:a="http://schemas.openxmlformats.org/drawingml/2006/main" noGrp="1"/>
          </p:cNvSpPr>
          <p:nvPr/>
        </p:nvSpPr>
        <p:spPr>
          <a:xfrm xmlns:a="http://schemas.openxmlformats.org/drawingml/2006/main">
            <a:off x="4286250" y="3762375"/>
            <a:ext cx="690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Isolated test databases and migration upgrade/downgrade</a:t>
            </a:r>
          </a:p>
        </p:txBody>
      </p:sp>
      <p:sp>
        <p:nvSpPr>
          <p:cNvPr id="10" name="/health checks the process&#10;/ready checks data">
            <a:extLst xmlns:a="http://schemas.openxmlformats.org/drawingml/2006/main">
              <a:ext uri="{FF2B5EF4-FFF2-40B4-BE49-F238E27FC236}">
                <a16:creationId xmlns:a16="http://schemas.microsoft.com/office/drawing/2014/main" id="{FBAA8E8F-A307-435D-BED9-D130215AB94B}"/>
              </a:ext>
            </a:extLst>
          </p:cNvPr>
          <p:cNvSpPr>
            <a:spLocks xmlns:a="http://schemas.openxmlformats.org/drawingml/2006/main" noGrp="1"/>
          </p:cNvSpPr>
          <p:nvPr/>
        </p:nvSpPr>
        <p:spPr>
          <a:xfrm xmlns:a="http://schemas.openxmlformats.org/drawingml/2006/main">
            <a:off x="4286250" y="4972050"/>
            <a:ext cx="690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8745B"/>
                </a:solidFill>
                <a:latin typeface="Liberation Sans"/>
                <a:ea typeface="Liberation Sans"/>
                <a:cs typeface="Liberation Sans"/>
              </a:defRPr>
            </a:defPPr>
          </a:lstStyle>
          <a:p xmlns:a="http://schemas.openxmlformats.org/drawingml/2006/main">
            <a:pPr algn="l">
              <a:defRPr sz="2100" b="0">
                <a:solidFill>
                  <a:srgbClr val="28745B"/>
                </a:solidFill>
                <a:latin typeface="Liberation Sans"/>
                <a:ea typeface="Liberation Sans"/>
                <a:cs typeface="Liberation Sans"/>
              </a:defRPr>
            </a:pPr>
            <a:r>
              <a:rPr sz="2100" b="0">
                <a:solidFill>
                  <a:srgbClr val="28745B"/>
                </a:solidFill>
                <a:latin typeface="Liberation Sans"/>
                <a:ea typeface="Liberation Sans"/>
                <a:cs typeface="Liberation Sans"/>
              </a:rPr>
              <a:t>/health checks the process</a:t>
            </a:r>
          </a:p>
          <a:p xmlns:a="http://schemas.openxmlformats.org/drawingml/2006/main">
            <a:pPr algn="l">
              <a:defRPr sz="2100" b="0">
                <a:solidFill>
                  <a:srgbClr val="28745B"/>
                </a:solidFill>
                <a:latin typeface="Liberation Sans"/>
                <a:ea typeface="Liberation Sans"/>
                <a:cs typeface="Liberation Sans"/>
              </a:defRPr>
            </a:pPr>
            <a:r>
              <a:rPr sz="2100" b="0">
                <a:solidFill>
                  <a:srgbClr val="28745B"/>
                </a:solidFill>
                <a:latin typeface="Liberation Sans"/>
                <a:ea typeface="Liberation Sans"/>
                <a:cs typeface="Liberation Sans"/>
              </a:rPr>
              <a:t>/ready checks database access and the migrated table</a:t>
            </a:r>
          </a:p>
        </p:txBody>
      </p:sp>
    </p:spTree>
    <p:extLst>
      <p:ext uri="{BB962C8B-B14F-4D97-AF65-F5344CB8AC3E}">
        <p14:creationId xmlns:p14="http://schemas.microsoft.com/office/powerpoint/2010/main" val="1311148464"/>
      </p:ext>
    </p:extLst>
  </p:cSld>
</p:sld>
</file>

<file path=ppt/slides/slide7.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CI and container security">
            <a:extLst xmlns:a="http://schemas.openxmlformats.org/drawingml/2006/main">
              <a:ext uri="{FF2B5EF4-FFF2-40B4-BE49-F238E27FC236}">
                <a16:creationId xmlns:a16="http://schemas.microsoft.com/office/drawing/2014/main" id="{CC9FED84-912C-4DFA-9972-6861F4E18921}"/>
              </a:ext>
            </a:extLst>
          </p:cNvPr>
          <p:cNvSpPr>
            <a:spLocks xmlns:a="http://schemas.openxmlformats.org/drawingml/2006/main" noGrp="1"/>
          </p:cNvSpPr>
          <p:nvPr/>
        </p:nvSpPr>
        <p:spPr>
          <a:xfrm xmlns:a="http://schemas.openxmlformats.org/drawingml/2006/main">
            <a:off x="685800" y="609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3C34"/>
                </a:solidFill>
                <a:latin typeface="Liberation Sans"/>
                <a:ea typeface="Liberation Sans"/>
                <a:cs typeface="Liberation Sans"/>
              </a:defRPr>
            </a:defPPr>
          </a:lstStyle>
          <a:p xmlns:a="http://schemas.openxmlformats.org/drawingml/2006/main">
            <a:pPr algn="l">
              <a:defRPr sz="3600" b="1">
                <a:solidFill>
                  <a:srgbClr val="173C34"/>
                </a:solidFill>
                <a:latin typeface="Liberation Sans"/>
                <a:ea typeface="Liberation Sans"/>
                <a:cs typeface="Liberation Sans"/>
              </a:defRPr>
            </a:pPr>
            <a:r>
              <a:rPr sz="3600" b="1">
                <a:solidFill>
                  <a:srgbClr val="173C34"/>
                </a:solidFill>
                <a:latin typeface="Liberation Sans"/>
                <a:ea typeface="Liberation Sans"/>
                <a:cs typeface="Liberation Sans"/>
              </a:rPr>
              <a:t>CI and container security</a:t>
            </a:r>
          </a:p>
        </p:txBody>
      </p:sp>
      <p:sp>
        <p:nvSpPr>
          <p:cNvPr id="2" name="QueueDesk">
            <a:extLst xmlns:a="http://schemas.openxmlformats.org/drawingml/2006/main">
              <a:ext uri="{FF2B5EF4-FFF2-40B4-BE49-F238E27FC236}">
                <a16:creationId xmlns:a16="http://schemas.microsoft.com/office/drawing/2014/main" id="{DA0029D5-7992-4EDC-A888-F87FFF58864F}"/>
              </a:ext>
            </a:extLst>
          </p:cNvPr>
          <p:cNvSpPr>
            <a:spLocks xmlns:a="http://schemas.openxmlformats.org/drawingml/2006/main" noGrp="1"/>
          </p:cNvSpPr>
          <p:nvPr/>
        </p:nvSpPr>
        <p:spPr>
          <a:xfrm xmlns:a="http://schemas.openxmlformats.org/drawingml/2006/main">
            <a:off x="685800" y="63341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57A71"/>
                </a:solidFill>
                <a:latin typeface="Liberation Sans"/>
                <a:ea typeface="Liberation Sans"/>
                <a:cs typeface="Liberation Sans"/>
              </a:defRPr>
            </a:defPPr>
          </a:lstStyle>
          <a:p xmlns:a="http://schemas.openxmlformats.org/drawingml/2006/main">
            <a:pPr algn="l">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QueueDesk</a:t>
            </a:r>
          </a:p>
        </p:txBody>
      </p:sp>
      <p:sp>
        <p:nvSpPr>
          <p:cNvPr id="3" name="07">
            <a:extLst xmlns:a="http://schemas.openxmlformats.org/drawingml/2006/main">
              <a:ext uri="{FF2B5EF4-FFF2-40B4-BE49-F238E27FC236}">
                <a16:creationId xmlns:a16="http://schemas.microsoft.com/office/drawing/2014/main" id="{8E3DC5E7-E81B-445F-ADD6-25E3AA6ACBA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57A71"/>
                </a:solidFill>
                <a:latin typeface="Liberation Sans"/>
                <a:ea typeface="Liberation Sans"/>
                <a:cs typeface="Liberation Sans"/>
              </a:defRPr>
            </a:defPPr>
          </a:lstStyle>
          <a:p xmlns:a="http://schemas.openxmlformats.org/drawingml/2006/main">
            <a:pPr algn="r">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07</a:t>
            </a:r>
          </a:p>
        </p:txBody>
      </p:sp>
      <p:graphicFrame>
        <p:nvGraphicFramePr>
          <p:cNvPr id="4" name="">
            <a:extLst xmlns:a="http://schemas.openxmlformats.org/drawingml/2006/main">
              <a:ext uri="{FF2B5EF4-FFF2-40B4-BE49-F238E27FC236}">
                <a16:creationId xmlns:a16="http://schemas.microsoft.com/office/drawing/2014/main" id="{E1B4DC4F-FDB6-43C5-9D34-609427D2AC73}"/>
              </a:ext>
            </a:extLst>
          </p:cNvPr>
          <p:cNvGraphicFramePr/>
          <p:nvPr/>
        </p:nvGraphicFramePr>
        <p:xfrm>
          <a:off xmlns:a="http://schemas.openxmlformats.org/drawingml/2006/main" x="685800" y="1666875"/>
          <a:ext xmlns:a="http://schemas.openxmlformats.org/drawingml/2006/main" cx="10820400" cy="3571875"/>
        </p:xfrm>
        <a:graphic xmlns:a="http://schemas.openxmlformats.org/drawingml/2006/main">
          <a:graphicData uri="http://schemas.openxmlformats.org/drawingml/2006/table">
            <a:tbl>
              <a:tblPr firstRow="1" bandRow="0"/>
              <a:tblGrid>
                <a:gridCol w="2333625"/>
                <a:gridCol w="8486775"/>
              </a:tblGrid>
              <a:tr h="714375">
                <a:tc>
                  <a:txBody>
                    <a:bodyPr/>
                    <a:lstStyle/>
                    <a:p>
                      <a:r>
                        <a:rPr sz="1875" b="1">
                          <a:solidFill>
                            <a:srgbClr val="FFFFFF"/>
                          </a:solidFill>
                          <a:latin typeface="Liberation Sans"/>
                          <a:ea typeface="Liberation Sans"/>
                          <a:cs typeface="Liberation Sans"/>
                        </a:rPr>
                        <a:t>Stage</a:t>
                      </a:r>
                    </a:p>
                  </a:txBody>
                  <a:tcPr marL="91440" marR="91440" marT="45720" marB="45720" anchor="ctr">
                    <a:lnL w="7620">
                      <a:solidFill>
                        <a:srgbClr val="DDE6DF"/>
                      </a:solidFill>
                      <a:prstDash val="solid"/>
                    </a:lnL>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c>
                  <a:txBody>
                    <a:bodyPr/>
                    <a:lstStyle/>
                    <a:p>
                      <a:r>
                        <a:rPr sz="1875" b="1">
                          <a:solidFill>
                            <a:srgbClr val="FFFFFF"/>
                          </a:solidFill>
                          <a:latin typeface="Liberation Sans"/>
                          <a:ea typeface="Liberation Sans"/>
                          <a:cs typeface="Liberation Sans"/>
                        </a:rPr>
                        <a:t>What runs</a:t>
                      </a:r>
                    </a:p>
                  </a:txBody>
                  <a:tcPr marL="91440" marR="91440" marT="45720" marB="45720" anchor="ctr">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r>
              <a:tr h="714375">
                <a:tc>
                  <a:txBody>
                    <a:bodyPr/>
                    <a:lstStyle/>
                    <a:p>
                      <a:r>
                        <a:rPr sz="1875" b="1">
                          <a:solidFill>
                            <a:srgbClr val="344C45"/>
                          </a:solidFill>
                          <a:latin typeface="Liberation Sans"/>
                          <a:ea typeface="Liberation Sans"/>
                          <a:cs typeface="Liberation Sans"/>
                        </a:rPr>
                        <a:t>1  Validate</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Pytest, Ruff, frontend build, Helm and Terraform checks</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r h="714375">
                <a:tc>
                  <a:txBody>
                    <a:bodyPr/>
                    <a:lstStyle/>
                    <a:p>
                      <a:r>
                        <a:rPr sz="1875" b="1">
                          <a:solidFill>
                            <a:srgbClr val="344C45"/>
                          </a:solidFill>
                          <a:latin typeface="Liberation Sans"/>
                          <a:ea typeface="Liberation Sans"/>
                          <a:cs typeface="Liberation Sans"/>
                        </a:rPr>
                        <a:t>2  Build</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Separate frontend and backend container images</a:t>
                      </a:r>
                    </a:p>
                  </a:txBody>
                  <a:tcPr marL="91440" marR="91440" marT="45720" marB="45720" anchor="ctr">
                    <a:lnR w="7620">
                      <a:solidFill>
                        <a:srgbClr val="DDE6DF"/>
                      </a:solidFill>
                      <a:prstDash val="solid"/>
                    </a:lnR>
                    <a:lnB w="7620">
                      <a:solidFill>
                        <a:srgbClr val="DDE6DF"/>
                      </a:solidFill>
                      <a:prstDash val="solid"/>
                    </a:lnB>
                    <a:solidFill>
                      <a:srgbClr val="EDF2ED"/>
                    </a:solidFill>
                  </a:tcPr>
                </a:tc>
              </a:tr>
              <a:tr h="714375">
                <a:tc>
                  <a:txBody>
                    <a:bodyPr/>
                    <a:lstStyle/>
                    <a:p>
                      <a:r>
                        <a:rPr sz="1875" b="1">
                          <a:solidFill>
                            <a:srgbClr val="344C45"/>
                          </a:solidFill>
                          <a:latin typeface="Liberation Sans"/>
                          <a:ea typeface="Liberation Sans"/>
                          <a:cs typeface="Liberation Sans"/>
                        </a:rPr>
                        <a:t>3  Scan</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Trivy scans both images and blocks HIGH/CRITICAL findings</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r h="714375">
                <a:tc>
                  <a:txBody>
                    <a:bodyPr/>
                    <a:lstStyle/>
                    <a:p>
                      <a:r>
                        <a:rPr sz="1875" b="1">
                          <a:solidFill>
                            <a:srgbClr val="344C45"/>
                          </a:solidFill>
                          <a:latin typeface="Liberation Sans"/>
                          <a:ea typeface="Liberation Sans"/>
                          <a:cs typeface="Liberation Sans"/>
                        </a:rPr>
                        <a:t>4  Publish</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GHCR images tagged with the full Git commit SHA</a:t>
                      </a:r>
                    </a:p>
                  </a:txBody>
                  <a:tcPr marL="91440" marR="91440" marT="45720" marB="45720" anchor="ctr">
                    <a:lnR w="7620">
                      <a:solidFill>
                        <a:srgbClr val="DDE6DF"/>
                      </a:solidFill>
                      <a:prstDash val="solid"/>
                    </a:lnR>
                    <a:lnB w="7620">
                      <a:solidFill>
                        <a:srgbClr val="DDE6DF"/>
                      </a:solidFill>
                      <a:prstDash val="solid"/>
                    </a:lnB>
                    <a:solidFill>
                      <a:srgbClr val="EDF2ED"/>
                    </a:solidFill>
                  </a:tcPr>
                </a:tc>
              </a:tr>
            </a:tbl>
          </a:graphicData>
        </a:graphic>
      </p:graphicFrame>
      <p:sp>
        <p:nvSpPr>
          <p:cNvPr id="5" name="Last verified run: tests, scans and publicati">
            <a:extLst xmlns:a="http://schemas.openxmlformats.org/drawingml/2006/main">
              <a:ext uri="{FF2B5EF4-FFF2-40B4-BE49-F238E27FC236}">
                <a16:creationId xmlns:a16="http://schemas.microsoft.com/office/drawing/2014/main" id="{CFF71E10-7051-45C8-A214-55CA64BE7D27}"/>
              </a:ext>
            </a:extLst>
          </p:cNvPr>
          <p:cNvSpPr>
            <a:spLocks xmlns:a="http://schemas.openxmlformats.org/drawingml/2006/main" noGrp="1"/>
          </p:cNvSpPr>
          <p:nvPr/>
        </p:nvSpPr>
        <p:spPr>
          <a:xfrm xmlns:a="http://schemas.openxmlformats.org/drawingml/2006/main">
            <a:off x="685800" y="55245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8745B"/>
                </a:solidFill>
                <a:latin typeface="Liberation Sans"/>
                <a:ea typeface="Liberation Sans"/>
                <a:cs typeface="Liberation Sans"/>
              </a:defRPr>
            </a:defPPr>
          </a:lstStyle>
          <a:p xmlns:a="http://schemas.openxmlformats.org/drawingml/2006/main">
            <a:pPr algn="l">
              <a:defRPr sz="2100" b="1">
                <a:solidFill>
                  <a:srgbClr val="28745B"/>
                </a:solidFill>
                <a:latin typeface="Liberation Sans"/>
                <a:ea typeface="Liberation Sans"/>
                <a:cs typeface="Liberation Sans"/>
              </a:defRPr>
            </a:pPr>
            <a:r>
              <a:rPr sz="2100" b="1">
                <a:solidFill>
                  <a:srgbClr val="28745B"/>
                </a:solidFill>
                <a:latin typeface="Liberation Sans"/>
                <a:ea typeface="Liberation Sans"/>
                <a:cs typeface="Liberation Sans"/>
              </a:rPr>
              <a:t>Last verified run: tests, scans and publication succeeded.</a:t>
            </a:r>
          </a:p>
        </p:txBody>
      </p:sp>
      <p:sp>
        <p:nvSpPr>
          <p:cNvPr id="6" name="The AWS deployment job remains disabled until">
            <a:extLst xmlns:a="http://schemas.openxmlformats.org/drawingml/2006/main">
              <a:ext uri="{FF2B5EF4-FFF2-40B4-BE49-F238E27FC236}">
                <a16:creationId xmlns:a16="http://schemas.microsoft.com/office/drawing/2014/main" id="{89B52B27-5A85-4242-AAE2-9E7FC886FCCA}"/>
              </a:ext>
            </a:extLst>
          </p:cNvPr>
          <p:cNvSpPr>
            <a:spLocks xmlns:a="http://schemas.openxmlformats.org/drawingml/2006/main" noGrp="1"/>
          </p:cNvSpPr>
          <p:nvPr/>
        </p:nvSpPr>
        <p:spPr>
          <a:xfrm xmlns:a="http://schemas.openxmlformats.org/drawingml/2006/main">
            <a:off x="685800" y="594360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A71"/>
                </a:solidFill>
                <a:latin typeface="Liberation Sans"/>
                <a:ea typeface="Liberation Sans"/>
                <a:cs typeface="Liberation Sans"/>
              </a:defRPr>
            </a:defPPr>
          </a:lstStyle>
          <a:p xmlns:a="http://schemas.openxmlformats.org/drawingml/2006/main">
            <a:pPr algn="l">
              <a:defRPr sz="1725" b="0">
                <a:solidFill>
                  <a:srgbClr val="657A71"/>
                </a:solidFill>
                <a:latin typeface="Liberation Sans"/>
                <a:ea typeface="Liberation Sans"/>
                <a:cs typeface="Liberation Sans"/>
              </a:defRPr>
            </a:pPr>
            <a:r>
              <a:rPr sz="1725" b="0">
                <a:solidFill>
                  <a:srgbClr val="657A71"/>
                </a:solidFill>
                <a:latin typeface="Liberation Sans"/>
                <a:ea typeface="Liberation Sans"/>
                <a:cs typeface="Liberation Sans"/>
              </a:rPr>
              <a:t>The AWS deployment job remains disabled until infrastructure is ready.</a:t>
            </a:r>
          </a:p>
        </p:txBody>
      </p:sp>
    </p:spTree>
    <p:extLst>
      <p:ext uri="{BB962C8B-B14F-4D97-AF65-F5344CB8AC3E}">
        <p14:creationId xmlns:p14="http://schemas.microsoft.com/office/powerpoint/2010/main" val="2099195398"/>
      </p:ext>
    </p:extLst>
  </p:cSld>
</p:sld>
</file>

<file path=ppt/slides/slide8.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3" name="AWS infrastructure">
            <a:extLst xmlns:a="http://schemas.openxmlformats.org/drawingml/2006/main">
              <a:ext uri="{FF2B5EF4-FFF2-40B4-BE49-F238E27FC236}">
                <a16:creationId xmlns:a16="http://schemas.microsoft.com/office/drawing/2014/main" id="{6C2E1436-E4DC-4768-B8BC-38D4906AB99E}"/>
              </a:ext>
            </a:extLst>
          </p:cNvPr>
          <p:cNvSpPr>
            <a:spLocks xmlns:a="http://schemas.openxmlformats.org/drawingml/2006/main" noGrp="1"/>
          </p:cNvSpPr>
          <p:nvPr/>
        </p:nvSpPr>
        <p:spPr>
          <a:xfrm xmlns:a="http://schemas.openxmlformats.org/drawingml/2006/main">
            <a:off x="685800" y="609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3C34"/>
                </a:solidFill>
                <a:latin typeface="Liberation Sans"/>
                <a:ea typeface="Liberation Sans"/>
                <a:cs typeface="Liberation Sans"/>
              </a:defRPr>
            </a:defPPr>
          </a:lstStyle>
          <a:p xmlns:a="http://schemas.openxmlformats.org/drawingml/2006/main">
            <a:pPr algn="l">
              <a:defRPr sz="3600" b="1">
                <a:solidFill>
                  <a:srgbClr val="173C34"/>
                </a:solidFill>
                <a:latin typeface="Liberation Sans"/>
                <a:ea typeface="Liberation Sans"/>
                <a:cs typeface="Liberation Sans"/>
              </a:defRPr>
            </a:pPr>
            <a:r>
              <a:rPr sz="3600" b="1">
                <a:solidFill>
                  <a:srgbClr val="173C34"/>
                </a:solidFill>
                <a:latin typeface="Liberation Sans"/>
                <a:ea typeface="Liberation Sans"/>
                <a:cs typeface="Liberation Sans"/>
              </a:rPr>
              <a:t>AWS infrastructure</a:t>
            </a:r>
          </a:p>
        </p:txBody>
      </p:sp>
      <p:sp>
        <p:nvSpPr>
          <p:cNvPr id="2" name="QueueDesk">
            <a:extLst xmlns:a="http://schemas.openxmlformats.org/drawingml/2006/main">
              <a:ext uri="{FF2B5EF4-FFF2-40B4-BE49-F238E27FC236}">
                <a16:creationId xmlns:a16="http://schemas.microsoft.com/office/drawing/2014/main" id="{44ED221F-1A07-4EDA-88C3-7D25644B2193}"/>
              </a:ext>
            </a:extLst>
          </p:cNvPr>
          <p:cNvSpPr>
            <a:spLocks xmlns:a="http://schemas.openxmlformats.org/drawingml/2006/main" noGrp="1"/>
          </p:cNvSpPr>
          <p:nvPr/>
        </p:nvSpPr>
        <p:spPr>
          <a:xfrm xmlns:a="http://schemas.openxmlformats.org/drawingml/2006/main">
            <a:off x="685800" y="63341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57A71"/>
                </a:solidFill>
                <a:latin typeface="Liberation Sans"/>
                <a:ea typeface="Liberation Sans"/>
                <a:cs typeface="Liberation Sans"/>
              </a:defRPr>
            </a:defPPr>
          </a:lstStyle>
          <a:p xmlns:a="http://schemas.openxmlformats.org/drawingml/2006/main">
            <a:pPr algn="l">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QueueDesk</a:t>
            </a:r>
          </a:p>
        </p:txBody>
      </p:sp>
      <p:sp>
        <p:nvSpPr>
          <p:cNvPr id="3" name="08">
            <a:extLst xmlns:a="http://schemas.openxmlformats.org/drawingml/2006/main">
              <a:ext uri="{FF2B5EF4-FFF2-40B4-BE49-F238E27FC236}">
                <a16:creationId xmlns:a16="http://schemas.microsoft.com/office/drawing/2014/main" id="{3CC88412-CF0E-4F88-9CDD-1C343EC144AA}"/>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57A71"/>
                </a:solidFill>
                <a:latin typeface="Liberation Sans"/>
                <a:ea typeface="Liberation Sans"/>
                <a:cs typeface="Liberation Sans"/>
              </a:defRPr>
            </a:defPPr>
          </a:lstStyle>
          <a:p xmlns:a="http://schemas.openxmlformats.org/drawingml/2006/main">
            <a:pPr algn="r">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08</a:t>
            </a:r>
          </a:p>
        </p:txBody>
      </p:sp>
      <p:sp>
        <p:nvSpPr>
          <p:cNvPr id="4" name="Terraform configuration ready. Cloud deployme">
            <a:extLst xmlns:a="http://schemas.openxmlformats.org/drawingml/2006/main">
              <a:ext uri="{FF2B5EF4-FFF2-40B4-BE49-F238E27FC236}">
                <a16:creationId xmlns:a16="http://schemas.microsoft.com/office/drawing/2014/main" id="{2AE6E9AF-7C08-4C69-B096-42A5EA0253F5}"/>
              </a:ext>
            </a:extLst>
          </p:cNvPr>
          <p:cNvSpPr>
            <a:spLocks xmlns:a="http://schemas.openxmlformats.org/drawingml/2006/main" noGrp="1"/>
          </p:cNvSpPr>
          <p:nvPr/>
        </p:nvSpPr>
        <p:spPr>
          <a:xfrm xmlns:a="http://schemas.openxmlformats.org/drawingml/2006/main">
            <a:off x="685800" y="15049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8A5A24"/>
                </a:solidFill>
                <a:latin typeface="Liberation Sans"/>
                <a:ea typeface="Liberation Sans"/>
                <a:cs typeface="Liberation Sans"/>
              </a:defRPr>
            </a:defPPr>
          </a:lstStyle>
          <a:p xmlns:a="http://schemas.openxmlformats.org/drawingml/2006/main">
            <a:pPr algn="l">
              <a:defRPr sz="2250" b="1">
                <a:solidFill>
                  <a:srgbClr val="8A5A24"/>
                </a:solidFill>
                <a:latin typeface="Liberation Sans"/>
                <a:ea typeface="Liberation Sans"/>
                <a:cs typeface="Liberation Sans"/>
              </a:defRPr>
            </a:pPr>
            <a:r>
              <a:rPr sz="2250" b="1">
                <a:solidFill>
                  <a:srgbClr val="8A5A24"/>
                </a:solidFill>
                <a:latin typeface="Liberation Sans"/>
                <a:ea typeface="Liberation Sans"/>
                <a:cs typeface="Liberation Sans"/>
              </a:rPr>
              <a:t>Terraform configuration ready. Cloud deployment pending.</a:t>
            </a:r>
          </a:p>
        </p:txBody>
      </p:sp>
      <p:sp>
        <p:nvSpPr>
          <p:cNvPr id="5" name="Networking">
            <a:extLst xmlns:a="http://schemas.openxmlformats.org/drawingml/2006/main">
              <a:ext uri="{FF2B5EF4-FFF2-40B4-BE49-F238E27FC236}">
                <a16:creationId xmlns:a16="http://schemas.microsoft.com/office/drawing/2014/main" id="{E63271D8-4473-4A6A-AEF7-26B63595AF54}"/>
              </a:ext>
            </a:extLst>
          </p:cNvPr>
          <p:cNvSpPr>
            <a:spLocks xmlns:a="http://schemas.openxmlformats.org/drawingml/2006/main" noGrp="1"/>
          </p:cNvSpPr>
          <p:nvPr/>
        </p:nvSpPr>
        <p:spPr>
          <a:xfrm xmlns:a="http://schemas.openxmlformats.org/drawingml/2006/main">
            <a:off x="685800" y="24384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745B"/>
                </a:solidFill>
                <a:latin typeface="Liberation Sans"/>
                <a:ea typeface="Liberation Sans"/>
                <a:cs typeface="Liberation Sans"/>
              </a:defRPr>
            </a:defPPr>
          </a:lstStyle>
          <a:p xmlns:a="http://schemas.openxmlformats.org/drawingml/2006/main">
            <a:pPr algn="l">
              <a:defRPr sz="2175" b="1">
                <a:solidFill>
                  <a:srgbClr val="28745B"/>
                </a:solidFill>
                <a:latin typeface="Liberation Sans"/>
                <a:ea typeface="Liberation Sans"/>
                <a:cs typeface="Liberation Sans"/>
              </a:defRPr>
            </a:pPr>
            <a:r>
              <a:rPr sz="2175" b="1">
                <a:solidFill>
                  <a:srgbClr val="28745B"/>
                </a:solidFill>
                <a:latin typeface="Liberation Sans"/>
                <a:ea typeface="Liberation Sans"/>
                <a:cs typeface="Liberation Sans"/>
              </a:rPr>
              <a:t>Networking</a:t>
            </a:r>
          </a:p>
        </p:txBody>
      </p:sp>
      <p:sp>
        <p:nvSpPr>
          <p:cNvPr id="6" name="VPC across two availability zones, public and">
            <a:extLst xmlns:a="http://schemas.openxmlformats.org/drawingml/2006/main">
              <a:ext uri="{FF2B5EF4-FFF2-40B4-BE49-F238E27FC236}">
                <a16:creationId xmlns:a16="http://schemas.microsoft.com/office/drawing/2014/main" id="{39F4F7A0-30E8-4786-81EF-0B81FF15DA5D}"/>
              </a:ext>
            </a:extLst>
          </p:cNvPr>
          <p:cNvSpPr>
            <a:spLocks xmlns:a="http://schemas.openxmlformats.org/drawingml/2006/main" noGrp="1"/>
          </p:cNvSpPr>
          <p:nvPr/>
        </p:nvSpPr>
        <p:spPr>
          <a:xfrm xmlns:a="http://schemas.openxmlformats.org/drawingml/2006/main">
            <a:off x="685800" y="291465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VPC across two availability zones, public and private subnets, one NAT gateway</a:t>
            </a:r>
          </a:p>
        </p:txBody>
      </p:sp>
      <p:sp>
        <p:nvSpPr>
          <p:cNvPr id="7" name="Compute">
            <a:extLst xmlns:a="http://schemas.openxmlformats.org/drawingml/2006/main">
              <a:ext uri="{FF2B5EF4-FFF2-40B4-BE49-F238E27FC236}">
                <a16:creationId xmlns:a16="http://schemas.microsoft.com/office/drawing/2014/main" id="{4D3DDF64-0550-4E31-B9A6-50D184D4667A}"/>
              </a:ext>
            </a:extLst>
          </p:cNvPr>
          <p:cNvSpPr>
            <a:spLocks xmlns:a="http://schemas.openxmlformats.org/drawingml/2006/main" noGrp="1"/>
          </p:cNvSpPr>
          <p:nvPr/>
        </p:nvSpPr>
        <p:spPr>
          <a:xfrm xmlns:a="http://schemas.openxmlformats.org/drawingml/2006/main">
            <a:off x="6477000" y="2438400"/>
            <a:ext cx="5029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745B"/>
                </a:solidFill>
                <a:latin typeface="Liberation Sans"/>
                <a:ea typeface="Liberation Sans"/>
                <a:cs typeface="Liberation Sans"/>
              </a:defRPr>
            </a:defPPr>
          </a:lstStyle>
          <a:p xmlns:a="http://schemas.openxmlformats.org/drawingml/2006/main">
            <a:pPr algn="l">
              <a:defRPr sz="2175" b="1">
                <a:solidFill>
                  <a:srgbClr val="28745B"/>
                </a:solidFill>
                <a:latin typeface="Liberation Sans"/>
                <a:ea typeface="Liberation Sans"/>
                <a:cs typeface="Liberation Sans"/>
              </a:defRPr>
            </a:pPr>
            <a:r>
              <a:rPr sz="2175" b="1">
                <a:solidFill>
                  <a:srgbClr val="28745B"/>
                </a:solidFill>
                <a:latin typeface="Liberation Sans"/>
                <a:ea typeface="Liberation Sans"/>
                <a:cs typeface="Liberation Sans"/>
              </a:rPr>
              <a:t>Compute</a:t>
            </a:r>
          </a:p>
        </p:txBody>
      </p:sp>
      <p:sp>
        <p:nvSpPr>
          <p:cNvPr id="8" name="EKS with a managed node group and two private">
            <a:extLst xmlns:a="http://schemas.openxmlformats.org/drawingml/2006/main">
              <a:ext uri="{FF2B5EF4-FFF2-40B4-BE49-F238E27FC236}">
                <a16:creationId xmlns:a16="http://schemas.microsoft.com/office/drawing/2014/main" id="{3B02C348-002A-4A82-BDE2-833BA4D63CBA}"/>
              </a:ext>
            </a:extLst>
          </p:cNvPr>
          <p:cNvSpPr>
            <a:spLocks xmlns:a="http://schemas.openxmlformats.org/drawingml/2006/main" noGrp="1"/>
          </p:cNvSpPr>
          <p:nvPr/>
        </p:nvSpPr>
        <p:spPr>
          <a:xfrm xmlns:a="http://schemas.openxmlformats.org/drawingml/2006/main">
            <a:off x="6477000" y="2914650"/>
            <a:ext cx="5029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EKS with a managed node group and two private worker nodes</a:t>
            </a:r>
          </a:p>
        </p:txBody>
      </p:sp>
      <p:sp>
        <p:nvSpPr>
          <p:cNvPr id="9" name="AWS access">
            <a:extLst xmlns:a="http://schemas.openxmlformats.org/drawingml/2006/main">
              <a:ext uri="{FF2B5EF4-FFF2-40B4-BE49-F238E27FC236}">
                <a16:creationId xmlns:a16="http://schemas.microsoft.com/office/drawing/2014/main" id="{4751C5A1-6682-47B8-B04F-1CF38B1C31D4}"/>
              </a:ext>
            </a:extLst>
          </p:cNvPr>
          <p:cNvSpPr>
            <a:spLocks xmlns:a="http://schemas.openxmlformats.org/drawingml/2006/main" noGrp="1"/>
          </p:cNvSpPr>
          <p:nvPr/>
        </p:nvSpPr>
        <p:spPr>
          <a:xfrm xmlns:a="http://schemas.openxmlformats.org/drawingml/2006/main">
            <a:off x="685800" y="43338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745B"/>
                </a:solidFill>
                <a:latin typeface="Liberation Sans"/>
                <a:ea typeface="Liberation Sans"/>
                <a:cs typeface="Liberation Sans"/>
              </a:defRPr>
            </a:defPPr>
          </a:lstStyle>
          <a:p xmlns:a="http://schemas.openxmlformats.org/drawingml/2006/main">
            <a:pPr algn="l">
              <a:defRPr sz="2175" b="1">
                <a:solidFill>
                  <a:srgbClr val="28745B"/>
                </a:solidFill>
                <a:latin typeface="Liberation Sans"/>
                <a:ea typeface="Liberation Sans"/>
                <a:cs typeface="Liberation Sans"/>
              </a:defRPr>
            </a:pPr>
            <a:r>
              <a:rPr sz="2175" b="1">
                <a:solidFill>
                  <a:srgbClr val="28745B"/>
                </a:solidFill>
                <a:latin typeface="Liberation Sans"/>
                <a:ea typeface="Liberation Sans"/>
                <a:cs typeface="Liberation Sans"/>
              </a:rPr>
              <a:t>AWS access</a:t>
            </a:r>
          </a:p>
        </p:txBody>
      </p:sp>
      <p:sp>
        <p:nvSpPr>
          <p:cNvPr id="10" name="IAM roles, GitHub OIDC and EKS access configu">
            <a:extLst xmlns:a="http://schemas.openxmlformats.org/drawingml/2006/main">
              <a:ext uri="{FF2B5EF4-FFF2-40B4-BE49-F238E27FC236}">
                <a16:creationId xmlns:a16="http://schemas.microsoft.com/office/drawing/2014/main" id="{0169D884-36A6-4C51-9373-4130E99D7858}"/>
              </a:ext>
            </a:extLst>
          </p:cNvPr>
          <p:cNvSpPr>
            <a:spLocks xmlns:a="http://schemas.openxmlformats.org/drawingml/2006/main" noGrp="1"/>
          </p:cNvSpPr>
          <p:nvPr/>
        </p:nvSpPr>
        <p:spPr>
          <a:xfrm xmlns:a="http://schemas.openxmlformats.org/drawingml/2006/main">
            <a:off x="685800" y="4810125"/>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IAM roles, GitHub OIDC and EKS access configuration</a:t>
            </a:r>
          </a:p>
        </p:txBody>
      </p:sp>
      <p:sp>
        <p:nvSpPr>
          <p:cNvPr id="11" name="Cluster services">
            <a:extLst xmlns:a="http://schemas.openxmlformats.org/drawingml/2006/main">
              <a:ext uri="{FF2B5EF4-FFF2-40B4-BE49-F238E27FC236}">
                <a16:creationId xmlns:a16="http://schemas.microsoft.com/office/drawing/2014/main" id="{1FDBFBB0-AE36-46F2-9576-D9BD4CCCD386}"/>
              </a:ext>
            </a:extLst>
          </p:cNvPr>
          <p:cNvSpPr>
            <a:spLocks xmlns:a="http://schemas.openxmlformats.org/drawingml/2006/main" noGrp="1"/>
          </p:cNvSpPr>
          <p:nvPr/>
        </p:nvSpPr>
        <p:spPr>
          <a:xfrm xmlns:a="http://schemas.openxmlformats.org/drawingml/2006/main">
            <a:off x="6477000" y="4333875"/>
            <a:ext cx="5029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745B"/>
                </a:solidFill>
                <a:latin typeface="Liberation Sans"/>
                <a:ea typeface="Liberation Sans"/>
                <a:cs typeface="Liberation Sans"/>
              </a:defRPr>
            </a:defPPr>
          </a:lstStyle>
          <a:p xmlns:a="http://schemas.openxmlformats.org/drawingml/2006/main">
            <a:pPr algn="l">
              <a:defRPr sz="2175" b="1">
                <a:solidFill>
                  <a:srgbClr val="28745B"/>
                </a:solidFill>
                <a:latin typeface="Liberation Sans"/>
                <a:ea typeface="Liberation Sans"/>
                <a:cs typeface="Liberation Sans"/>
              </a:defRPr>
            </a:pPr>
            <a:r>
              <a:rPr sz="2175" b="1">
                <a:solidFill>
                  <a:srgbClr val="28745B"/>
                </a:solidFill>
                <a:latin typeface="Liberation Sans"/>
                <a:ea typeface="Liberation Sans"/>
                <a:cs typeface="Liberation Sans"/>
              </a:rPr>
              <a:t>Cluster services</a:t>
            </a:r>
          </a:p>
        </p:txBody>
      </p:sp>
      <p:sp>
        <p:nvSpPr>
          <p:cNvPr id="12" name="EBS CSI for persistent storage and Metrics Se">
            <a:extLst xmlns:a="http://schemas.openxmlformats.org/drawingml/2006/main">
              <a:ext uri="{FF2B5EF4-FFF2-40B4-BE49-F238E27FC236}">
                <a16:creationId xmlns:a16="http://schemas.microsoft.com/office/drawing/2014/main" id="{CF32E34D-9F1C-40C8-BDAF-DED313A22F9F}"/>
              </a:ext>
            </a:extLst>
          </p:cNvPr>
          <p:cNvSpPr>
            <a:spLocks xmlns:a="http://schemas.openxmlformats.org/drawingml/2006/main" noGrp="1"/>
          </p:cNvSpPr>
          <p:nvPr/>
        </p:nvSpPr>
        <p:spPr>
          <a:xfrm xmlns:a="http://schemas.openxmlformats.org/drawingml/2006/main">
            <a:off x="6477000" y="4810125"/>
            <a:ext cx="5029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EBS CSI for persistent storage and Metrics Server for resource metrics</a:t>
            </a:r>
          </a:p>
        </p:txBody>
      </p:sp>
    </p:spTree>
    <p:extLst>
      <p:ext uri="{BB962C8B-B14F-4D97-AF65-F5344CB8AC3E}">
        <p14:creationId xmlns:p14="http://schemas.microsoft.com/office/powerpoint/2010/main" val="430765908"/>
      </p:ext>
    </p:extLst>
  </p:cSld>
</p:sld>
</file>

<file path=ppt/slides/slide9.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6" name="Kubernetes and Helm">
            <a:extLst xmlns:a="http://schemas.openxmlformats.org/drawingml/2006/main">
              <a:ext uri="{FF2B5EF4-FFF2-40B4-BE49-F238E27FC236}">
                <a16:creationId xmlns:a16="http://schemas.microsoft.com/office/drawing/2014/main" id="{3EBA2F76-52C7-4FE1-A60E-3B3F784DD6A4}"/>
              </a:ext>
            </a:extLst>
          </p:cNvPr>
          <p:cNvSpPr>
            <a:spLocks xmlns:a="http://schemas.openxmlformats.org/drawingml/2006/main" noGrp="1"/>
          </p:cNvSpPr>
          <p:nvPr/>
        </p:nvSpPr>
        <p:spPr>
          <a:xfrm xmlns:a="http://schemas.openxmlformats.org/drawingml/2006/main">
            <a:off x="685800" y="609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3C34"/>
                </a:solidFill>
                <a:latin typeface="Liberation Sans"/>
                <a:ea typeface="Liberation Sans"/>
                <a:cs typeface="Liberation Sans"/>
              </a:defRPr>
            </a:defPPr>
          </a:lstStyle>
          <a:p xmlns:a="http://schemas.openxmlformats.org/drawingml/2006/main">
            <a:pPr algn="l">
              <a:defRPr sz="3600" b="1">
                <a:solidFill>
                  <a:srgbClr val="173C34"/>
                </a:solidFill>
                <a:latin typeface="Liberation Sans"/>
                <a:ea typeface="Liberation Sans"/>
                <a:cs typeface="Liberation Sans"/>
              </a:defRPr>
            </a:pPr>
            <a:r>
              <a:rPr sz="3600" b="1">
                <a:solidFill>
                  <a:srgbClr val="173C34"/>
                </a:solidFill>
                <a:latin typeface="Liberation Sans"/>
                <a:ea typeface="Liberation Sans"/>
                <a:cs typeface="Liberation Sans"/>
              </a:rPr>
              <a:t>Kubernetes and Helm</a:t>
            </a:r>
          </a:p>
        </p:txBody>
      </p:sp>
      <p:sp>
        <p:nvSpPr>
          <p:cNvPr id="2" name="QueueDesk">
            <a:extLst xmlns:a="http://schemas.openxmlformats.org/drawingml/2006/main">
              <a:ext uri="{FF2B5EF4-FFF2-40B4-BE49-F238E27FC236}">
                <a16:creationId xmlns:a16="http://schemas.microsoft.com/office/drawing/2014/main" id="{6092CA86-FA12-4220-A4BA-995C441349BF}"/>
              </a:ext>
            </a:extLst>
          </p:cNvPr>
          <p:cNvSpPr>
            <a:spLocks xmlns:a="http://schemas.openxmlformats.org/drawingml/2006/main" noGrp="1"/>
          </p:cNvSpPr>
          <p:nvPr/>
        </p:nvSpPr>
        <p:spPr>
          <a:xfrm xmlns:a="http://schemas.openxmlformats.org/drawingml/2006/main">
            <a:off x="685800" y="63341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57A71"/>
                </a:solidFill>
                <a:latin typeface="Liberation Sans"/>
                <a:ea typeface="Liberation Sans"/>
                <a:cs typeface="Liberation Sans"/>
              </a:defRPr>
            </a:defPPr>
          </a:lstStyle>
          <a:p xmlns:a="http://schemas.openxmlformats.org/drawingml/2006/main">
            <a:pPr algn="l">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QueueDesk</a:t>
            </a:r>
          </a:p>
        </p:txBody>
      </p:sp>
      <p:sp>
        <p:nvSpPr>
          <p:cNvPr id="3" name="09">
            <a:extLst xmlns:a="http://schemas.openxmlformats.org/drawingml/2006/main">
              <a:ext uri="{FF2B5EF4-FFF2-40B4-BE49-F238E27FC236}">
                <a16:creationId xmlns:a16="http://schemas.microsoft.com/office/drawing/2014/main" id="{A5DCD75C-829A-4A50-8C5B-03EF9907BFB4}"/>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57A71"/>
                </a:solidFill>
                <a:latin typeface="Liberation Sans"/>
                <a:ea typeface="Liberation Sans"/>
                <a:cs typeface="Liberation Sans"/>
              </a:defRPr>
            </a:defPPr>
          </a:lstStyle>
          <a:p xmlns:a="http://schemas.openxmlformats.org/drawingml/2006/main">
            <a:pPr algn="r">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09</a:t>
            </a:r>
          </a:p>
        </p:txBody>
      </p:sp>
      <p:graphicFrame>
        <p:nvGraphicFramePr>
          <p:cNvPr id="4" name="">
            <a:extLst xmlns:a="http://schemas.openxmlformats.org/drawingml/2006/main">
              <a:ext uri="{FF2B5EF4-FFF2-40B4-BE49-F238E27FC236}">
                <a16:creationId xmlns:a16="http://schemas.microsoft.com/office/drawing/2014/main" id="{0FE49CF4-A0A1-4D1A-91BF-2AB3349E1523}"/>
              </a:ext>
            </a:extLst>
          </p:cNvPr>
          <p:cNvGraphicFramePr/>
          <p:nvPr/>
        </p:nvGraphicFramePr>
        <p:xfrm>
          <a:off xmlns:a="http://schemas.openxmlformats.org/drawingml/2006/main" x="685800" y="1666875"/>
          <a:ext xmlns:a="http://schemas.openxmlformats.org/drawingml/2006/main" cx="10820400" cy="3714750"/>
        </p:xfrm>
        <a:graphic xmlns:a="http://schemas.openxmlformats.org/drawingml/2006/main">
          <a:graphicData uri="http://schemas.openxmlformats.org/drawingml/2006/table">
            <a:tbl>
              <a:tblPr firstRow="1" bandRow="0"/>
              <a:tblGrid>
                <a:gridCol w="2857500"/>
                <a:gridCol w="7962900"/>
              </a:tblGrid>
              <a:tr h="619125">
                <a:tc>
                  <a:txBody>
                    <a:bodyPr/>
                    <a:lstStyle/>
                    <a:p>
                      <a:r>
                        <a:rPr sz="1875" b="1">
                          <a:solidFill>
                            <a:srgbClr val="FFFFFF"/>
                          </a:solidFill>
                          <a:latin typeface="Liberation Sans"/>
                          <a:ea typeface="Liberation Sans"/>
                          <a:cs typeface="Liberation Sans"/>
                        </a:rPr>
                        <a:t>Resource</a:t>
                      </a:r>
                    </a:p>
                  </a:txBody>
                  <a:tcPr marL="91440" marR="91440" marT="45720" marB="45720" anchor="ctr">
                    <a:lnL w="7620">
                      <a:solidFill>
                        <a:srgbClr val="DDE6DF"/>
                      </a:solidFill>
                      <a:prstDash val="solid"/>
                    </a:lnL>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c>
                  <a:txBody>
                    <a:bodyPr/>
                    <a:lstStyle/>
                    <a:p>
                      <a:r>
                        <a:rPr sz="1875" b="1">
                          <a:solidFill>
                            <a:srgbClr val="FFFFFF"/>
                          </a:solidFill>
                          <a:latin typeface="Liberation Sans"/>
                          <a:ea typeface="Liberation Sans"/>
                          <a:cs typeface="Liberation Sans"/>
                        </a:rPr>
                        <a:t>Configured behavior</a:t>
                      </a:r>
                    </a:p>
                  </a:txBody>
                  <a:tcPr marL="91440" marR="91440" marT="45720" marB="45720" anchor="ctr">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r>
              <a:tr h="619125">
                <a:tc>
                  <a:txBody>
                    <a:bodyPr/>
                    <a:lstStyle/>
                    <a:p>
                      <a:r>
                        <a:rPr sz="1875" b="1">
                          <a:solidFill>
                            <a:srgbClr val="344C45"/>
                          </a:solidFill>
                          <a:latin typeface="Liberation Sans"/>
                          <a:ea typeface="Liberation Sans"/>
                          <a:cs typeface="Liberation Sans"/>
                        </a:rPr>
                        <a:t>Deployments</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Two frontend replicas and two backend replicas</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r h="619125">
                <a:tc>
                  <a:txBody>
                    <a:bodyPr/>
                    <a:lstStyle/>
                    <a:p>
                      <a:r>
                        <a:rPr sz="1875" b="1">
                          <a:solidFill>
                            <a:srgbClr val="344C45"/>
                          </a:solidFill>
                          <a:latin typeface="Liberation Sans"/>
                          <a:ea typeface="Liberation Sans"/>
                          <a:cs typeface="Liberation Sans"/>
                        </a:rPr>
                        <a:t>Ingress</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Routes / to the frontend and /api to the backend</a:t>
                      </a:r>
                    </a:p>
                  </a:txBody>
                  <a:tcPr marL="91440" marR="91440" marT="45720" marB="45720" anchor="ctr">
                    <a:lnR w="7620">
                      <a:solidFill>
                        <a:srgbClr val="DDE6DF"/>
                      </a:solidFill>
                      <a:prstDash val="solid"/>
                    </a:lnR>
                    <a:lnB w="7620">
                      <a:solidFill>
                        <a:srgbClr val="DDE6DF"/>
                      </a:solidFill>
                      <a:prstDash val="solid"/>
                    </a:lnB>
                    <a:solidFill>
                      <a:srgbClr val="EDF2ED"/>
                    </a:solidFill>
                  </a:tcPr>
                </a:tc>
              </a:tr>
              <a:tr h="619125">
                <a:tc>
                  <a:txBody>
                    <a:bodyPr/>
                    <a:lstStyle/>
                    <a:p>
                      <a:r>
                        <a:rPr sz="1875" b="1">
                          <a:solidFill>
                            <a:srgbClr val="344C45"/>
                          </a:solidFill>
                          <a:latin typeface="Liberation Sans"/>
                          <a:ea typeface="Liberation Sans"/>
                          <a:cs typeface="Liberation Sans"/>
                        </a:rPr>
                        <a:t>PostgreSQL PVC</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Persists database files on gp3 storage in AWS</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r h="619125">
                <a:tc>
                  <a:txBody>
                    <a:bodyPr/>
                    <a:lstStyle/>
                    <a:p>
                      <a:r>
                        <a:rPr sz="1875" b="1">
                          <a:solidFill>
                            <a:srgbClr val="344C45"/>
                          </a:solidFill>
                          <a:latin typeface="Liberation Sans"/>
                          <a:ea typeface="Liberation Sans"/>
                          <a:cs typeface="Liberation Sans"/>
                        </a:rPr>
                        <a:t>Migration Job</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Runs Alembic before the application release</a:t>
                      </a:r>
                    </a:p>
                  </a:txBody>
                  <a:tcPr marL="91440" marR="91440" marT="45720" marB="45720" anchor="ctr">
                    <a:lnR w="7620">
                      <a:solidFill>
                        <a:srgbClr val="DDE6DF"/>
                      </a:solidFill>
                      <a:prstDash val="solid"/>
                    </a:lnR>
                    <a:lnB w="7620">
                      <a:solidFill>
                        <a:srgbClr val="DDE6DF"/>
                      </a:solidFill>
                      <a:prstDash val="solid"/>
                    </a:lnB>
                    <a:solidFill>
                      <a:srgbClr val="EDF2ED"/>
                    </a:solidFill>
                  </a:tcPr>
                </a:tc>
              </a:tr>
              <a:tr h="619125">
                <a:tc>
                  <a:txBody>
                    <a:bodyPr/>
                    <a:lstStyle/>
                    <a:p>
                      <a:r>
                        <a:rPr sz="1875" b="1">
                          <a:solidFill>
                            <a:srgbClr val="344C45"/>
                          </a:solidFill>
                          <a:latin typeface="Liberation Sans"/>
                          <a:ea typeface="Liberation Sans"/>
                          <a:cs typeface="Liberation Sans"/>
                        </a:rPr>
                        <a:t>Backend HPA</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Scales between 2 and 6 replicas using CPU metrics</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bl>
          </a:graphicData>
        </a:graphic>
      </p:graphicFrame>
      <p:sp>
        <p:nvSpPr>
          <p:cNvPr id="5" name="Helm chart validation passed. Cluster install">
            <a:extLst xmlns:a="http://schemas.openxmlformats.org/drawingml/2006/main">
              <a:ext uri="{FF2B5EF4-FFF2-40B4-BE49-F238E27FC236}">
                <a16:creationId xmlns:a16="http://schemas.microsoft.com/office/drawing/2014/main" id="{726A36A1-E15D-40A2-AB93-F7D3003F2F44}"/>
              </a:ext>
            </a:extLst>
          </p:cNvPr>
          <p:cNvSpPr>
            <a:spLocks xmlns:a="http://schemas.openxmlformats.org/drawingml/2006/main" noGrp="1"/>
          </p:cNvSpPr>
          <p:nvPr/>
        </p:nvSpPr>
        <p:spPr>
          <a:xfrm xmlns:a="http://schemas.openxmlformats.org/drawingml/2006/main">
            <a:off x="685800" y="57340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8A5A24"/>
                </a:solidFill>
                <a:latin typeface="Liberation Sans"/>
                <a:ea typeface="Liberation Sans"/>
                <a:cs typeface="Liberation Sans"/>
              </a:defRPr>
            </a:defPPr>
          </a:lstStyle>
          <a:p xmlns:a="http://schemas.openxmlformats.org/drawingml/2006/main">
            <a:pPr algn="l">
              <a:defRPr sz="2025" b="0">
                <a:solidFill>
                  <a:srgbClr val="8A5A24"/>
                </a:solidFill>
                <a:latin typeface="Liberation Sans"/>
                <a:ea typeface="Liberation Sans"/>
                <a:cs typeface="Liberation Sans"/>
              </a:defRPr>
            </a:pPr>
            <a:r>
              <a:rPr sz="2025" b="0">
                <a:solidFill>
                  <a:srgbClr val="8A5A24"/>
                </a:solidFill>
                <a:latin typeface="Liberation Sans"/>
                <a:ea typeface="Liberation Sans"/>
                <a:cs typeface="Liberation Sans"/>
              </a:rPr>
              <a:t>Helm chart validation passed. Cluster installation remains pending.</a:t>
            </a:r>
          </a:p>
        </p:txBody>
      </p:sp>
    </p:spTree>
    <p:extLst>
      <p:ext uri="{BB962C8B-B14F-4D97-AF65-F5344CB8AC3E}">
        <p14:creationId xmlns:p14="http://schemas.microsoft.com/office/powerpoint/2010/main" val="680226712"/>
      </p:ext>
    </p:extLst>
  </p:cSld>
</p:sld>
</file>

<file path=ppt/slides/slide10.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3" name="Monitoring and troubleshooting">
            <a:extLst xmlns:a="http://schemas.openxmlformats.org/drawingml/2006/main">
              <a:ext uri="{FF2B5EF4-FFF2-40B4-BE49-F238E27FC236}">
                <a16:creationId xmlns:a16="http://schemas.microsoft.com/office/drawing/2014/main" id="{2CFC793E-19D7-4D2E-8405-FB85676F3EB0}"/>
              </a:ext>
            </a:extLst>
          </p:cNvPr>
          <p:cNvSpPr>
            <a:spLocks xmlns:a="http://schemas.openxmlformats.org/drawingml/2006/main" noGrp="1"/>
          </p:cNvSpPr>
          <p:nvPr/>
        </p:nvSpPr>
        <p:spPr>
          <a:xfrm xmlns:a="http://schemas.openxmlformats.org/drawingml/2006/main">
            <a:off x="685800" y="609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3C34"/>
                </a:solidFill>
                <a:latin typeface="Liberation Sans"/>
                <a:ea typeface="Liberation Sans"/>
                <a:cs typeface="Liberation Sans"/>
              </a:defRPr>
            </a:defPPr>
          </a:lstStyle>
          <a:p xmlns:a="http://schemas.openxmlformats.org/drawingml/2006/main">
            <a:pPr algn="l">
              <a:defRPr sz="3600" b="1">
                <a:solidFill>
                  <a:srgbClr val="173C34"/>
                </a:solidFill>
                <a:latin typeface="Liberation Sans"/>
                <a:ea typeface="Liberation Sans"/>
                <a:cs typeface="Liberation Sans"/>
              </a:defRPr>
            </a:pPr>
            <a:r>
              <a:rPr sz="3600" b="1">
                <a:solidFill>
                  <a:srgbClr val="173C34"/>
                </a:solidFill>
                <a:latin typeface="Liberation Sans"/>
                <a:ea typeface="Liberation Sans"/>
                <a:cs typeface="Liberation Sans"/>
              </a:rPr>
              <a:t>Monitoring and troubleshooting</a:t>
            </a:r>
          </a:p>
        </p:txBody>
      </p:sp>
      <p:sp>
        <p:nvSpPr>
          <p:cNvPr id="2" name="QueueDesk">
            <a:extLst xmlns:a="http://schemas.openxmlformats.org/drawingml/2006/main">
              <a:ext uri="{FF2B5EF4-FFF2-40B4-BE49-F238E27FC236}">
                <a16:creationId xmlns:a16="http://schemas.microsoft.com/office/drawing/2014/main" id="{A5F5C3E9-4B0A-44DD-A350-66A8BF4A4F1B}"/>
              </a:ext>
            </a:extLst>
          </p:cNvPr>
          <p:cNvSpPr>
            <a:spLocks xmlns:a="http://schemas.openxmlformats.org/drawingml/2006/main" noGrp="1"/>
          </p:cNvSpPr>
          <p:nvPr/>
        </p:nvSpPr>
        <p:spPr>
          <a:xfrm xmlns:a="http://schemas.openxmlformats.org/drawingml/2006/main">
            <a:off x="685800" y="63341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57A71"/>
                </a:solidFill>
                <a:latin typeface="Liberation Sans"/>
                <a:ea typeface="Liberation Sans"/>
                <a:cs typeface="Liberation Sans"/>
              </a:defRPr>
            </a:defPPr>
          </a:lstStyle>
          <a:p xmlns:a="http://schemas.openxmlformats.org/drawingml/2006/main">
            <a:pPr algn="l">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QueueDesk</a:t>
            </a:r>
          </a:p>
        </p:txBody>
      </p:sp>
      <p:sp>
        <p:nvSpPr>
          <p:cNvPr id="3" name="10">
            <a:extLst xmlns:a="http://schemas.openxmlformats.org/drawingml/2006/main">
              <a:ext uri="{FF2B5EF4-FFF2-40B4-BE49-F238E27FC236}">
                <a16:creationId xmlns:a16="http://schemas.microsoft.com/office/drawing/2014/main" id="{A659EFCE-7D57-458F-B767-D475C427D921}"/>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57A71"/>
                </a:solidFill>
                <a:latin typeface="Liberation Sans"/>
                <a:ea typeface="Liberation Sans"/>
                <a:cs typeface="Liberation Sans"/>
              </a:defRPr>
            </a:defPPr>
          </a:lstStyle>
          <a:p xmlns:a="http://schemas.openxmlformats.org/drawingml/2006/main">
            <a:pPr algn="r">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10</a:t>
            </a:r>
          </a:p>
        </p:txBody>
      </p:sp>
      <p:sp>
        <p:nvSpPr>
          <p:cNvPr id="4" name="Application metrics">
            <a:extLst xmlns:a="http://schemas.openxmlformats.org/drawingml/2006/main">
              <a:ext uri="{FF2B5EF4-FFF2-40B4-BE49-F238E27FC236}">
                <a16:creationId xmlns:a16="http://schemas.microsoft.com/office/drawing/2014/main" id="{EDF765F7-579E-495C-A076-FA6DD8708CEB}"/>
              </a:ext>
            </a:extLst>
          </p:cNvPr>
          <p:cNvSpPr>
            <a:spLocks xmlns:a="http://schemas.openxmlformats.org/drawingml/2006/main" noGrp="1"/>
          </p:cNvSpPr>
          <p:nvPr/>
        </p:nvSpPr>
        <p:spPr>
          <a:xfrm xmlns:a="http://schemas.openxmlformats.org/drawingml/2006/main">
            <a:off x="685800" y="17240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745B"/>
                </a:solidFill>
                <a:latin typeface="Liberation Sans"/>
                <a:ea typeface="Liberation Sans"/>
                <a:cs typeface="Liberation Sans"/>
              </a:defRPr>
            </a:defPPr>
          </a:lstStyle>
          <a:p xmlns:a="http://schemas.openxmlformats.org/drawingml/2006/main">
            <a:pPr algn="l">
              <a:defRPr sz="2175" b="1">
                <a:solidFill>
                  <a:srgbClr val="28745B"/>
                </a:solidFill>
                <a:latin typeface="Liberation Sans"/>
                <a:ea typeface="Liberation Sans"/>
                <a:cs typeface="Liberation Sans"/>
              </a:defRPr>
            </a:pPr>
            <a:r>
              <a:rPr sz="2175" b="1">
                <a:solidFill>
                  <a:srgbClr val="28745B"/>
                </a:solidFill>
                <a:latin typeface="Liberation Sans"/>
                <a:ea typeface="Liberation Sans"/>
                <a:cs typeface="Liberation Sans"/>
              </a:rPr>
              <a:t>Application metrics</a:t>
            </a:r>
          </a:p>
        </p:txBody>
      </p:sp>
      <p:sp>
        <p:nvSpPr>
          <p:cNvPr id="5" name="/metrics exposes HTTP request counts and late">
            <a:extLst xmlns:a="http://schemas.openxmlformats.org/drawingml/2006/main">
              <a:ext uri="{FF2B5EF4-FFF2-40B4-BE49-F238E27FC236}">
                <a16:creationId xmlns:a16="http://schemas.microsoft.com/office/drawing/2014/main" id="{1D3AD4C2-7DB6-46C3-9220-BAF4C8C61A68}"/>
              </a:ext>
            </a:extLst>
          </p:cNvPr>
          <p:cNvSpPr>
            <a:spLocks xmlns:a="http://schemas.openxmlformats.org/drawingml/2006/main" noGrp="1"/>
          </p:cNvSpPr>
          <p:nvPr/>
        </p:nvSpPr>
        <p:spPr>
          <a:xfrm xmlns:a="http://schemas.openxmlformats.org/drawingml/2006/main">
            <a:off x="685800" y="2200275"/>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/metrics exposes HTTP request counts and latency measurements</a:t>
            </a:r>
          </a:p>
        </p:txBody>
      </p:sp>
      <p:sp>
        <p:nvSpPr>
          <p:cNvPr id="6" name="Prometheus and Grafana">
            <a:extLst xmlns:a="http://schemas.openxmlformats.org/drawingml/2006/main">
              <a:ext uri="{FF2B5EF4-FFF2-40B4-BE49-F238E27FC236}">
                <a16:creationId xmlns:a16="http://schemas.microsoft.com/office/drawing/2014/main" id="{A5C41434-3771-40CF-8354-05CC4AB1AE6A}"/>
              </a:ext>
            </a:extLst>
          </p:cNvPr>
          <p:cNvSpPr>
            <a:spLocks xmlns:a="http://schemas.openxmlformats.org/drawingml/2006/main" noGrp="1"/>
          </p:cNvSpPr>
          <p:nvPr/>
        </p:nvSpPr>
        <p:spPr>
          <a:xfrm xmlns:a="http://schemas.openxmlformats.org/drawingml/2006/main">
            <a:off x="6477000" y="1724025"/>
            <a:ext cx="5029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745B"/>
                </a:solidFill>
                <a:latin typeface="Liberation Sans"/>
                <a:ea typeface="Liberation Sans"/>
                <a:cs typeface="Liberation Sans"/>
              </a:defRPr>
            </a:defPPr>
          </a:lstStyle>
          <a:p xmlns:a="http://schemas.openxmlformats.org/drawingml/2006/main">
            <a:pPr algn="l">
              <a:defRPr sz="2175" b="1">
                <a:solidFill>
                  <a:srgbClr val="28745B"/>
                </a:solidFill>
                <a:latin typeface="Liberation Sans"/>
                <a:ea typeface="Liberation Sans"/>
                <a:cs typeface="Liberation Sans"/>
              </a:defRPr>
            </a:pPr>
            <a:r>
              <a:rPr sz="2175" b="1">
                <a:solidFill>
                  <a:srgbClr val="28745B"/>
                </a:solidFill>
                <a:latin typeface="Liberation Sans"/>
                <a:ea typeface="Liberation Sans"/>
                <a:cs typeface="Liberation Sans"/>
              </a:rPr>
              <a:t>Prometheus and Grafana</a:t>
            </a:r>
          </a:p>
        </p:txBody>
      </p:sp>
      <p:sp>
        <p:nvSpPr>
          <p:cNvPr id="7" name="Helm values, ServiceMonitor and an applicatio">
            <a:extLst xmlns:a="http://schemas.openxmlformats.org/drawingml/2006/main">
              <a:ext uri="{FF2B5EF4-FFF2-40B4-BE49-F238E27FC236}">
                <a16:creationId xmlns:a16="http://schemas.microsoft.com/office/drawing/2014/main" id="{CF5568A3-9455-4671-A1D1-25CAC7D0D02F}"/>
              </a:ext>
            </a:extLst>
          </p:cNvPr>
          <p:cNvSpPr>
            <a:spLocks xmlns:a="http://schemas.openxmlformats.org/drawingml/2006/main" noGrp="1"/>
          </p:cNvSpPr>
          <p:nvPr/>
        </p:nvSpPr>
        <p:spPr>
          <a:xfrm xmlns:a="http://schemas.openxmlformats.org/drawingml/2006/main">
            <a:off x="6477000" y="2200275"/>
            <a:ext cx="5029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Helm values, ServiceMonitor and an application dashboard are included</a:t>
            </a:r>
          </a:p>
        </p:txBody>
      </p:sp>
      <p:sp>
        <p:nvSpPr>
          <p:cNvPr id="8" name="Image pull failure">
            <a:extLst xmlns:a="http://schemas.openxmlformats.org/drawingml/2006/main">
              <a:ext uri="{FF2B5EF4-FFF2-40B4-BE49-F238E27FC236}">
                <a16:creationId xmlns:a16="http://schemas.microsoft.com/office/drawing/2014/main" id="{7A2FBAC8-030D-4B71-B4FE-29031C169554}"/>
              </a:ext>
            </a:extLst>
          </p:cNvPr>
          <p:cNvSpPr>
            <a:spLocks xmlns:a="http://schemas.openxmlformats.org/drawingml/2006/main" noGrp="1"/>
          </p:cNvSpPr>
          <p:nvPr/>
        </p:nvSpPr>
        <p:spPr>
          <a:xfrm xmlns:a="http://schemas.openxmlformats.org/drawingml/2006/main">
            <a:off x="685800" y="37814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745B"/>
                </a:solidFill>
                <a:latin typeface="Liberation Sans"/>
                <a:ea typeface="Liberation Sans"/>
                <a:cs typeface="Liberation Sans"/>
              </a:defRPr>
            </a:defPPr>
          </a:lstStyle>
          <a:p xmlns:a="http://schemas.openxmlformats.org/drawingml/2006/main">
            <a:pPr algn="l">
              <a:defRPr sz="2175" b="1">
                <a:solidFill>
                  <a:srgbClr val="28745B"/>
                </a:solidFill>
                <a:latin typeface="Liberation Sans"/>
                <a:ea typeface="Liberation Sans"/>
                <a:cs typeface="Liberation Sans"/>
              </a:defRPr>
            </a:pPr>
            <a:r>
              <a:rPr sz="2175" b="1">
                <a:solidFill>
                  <a:srgbClr val="28745B"/>
                </a:solidFill>
                <a:latin typeface="Liberation Sans"/>
                <a:ea typeface="Liberation Sans"/>
                <a:cs typeface="Liberation Sans"/>
              </a:rPr>
              <a:t>Image pull failure</a:t>
            </a:r>
          </a:p>
        </p:txBody>
      </p:sp>
      <p:sp>
        <p:nvSpPr>
          <p:cNvPr id="9" name="Inspect Pod events, image tags and registry a">
            <a:extLst xmlns:a="http://schemas.openxmlformats.org/drawingml/2006/main">
              <a:ext uri="{FF2B5EF4-FFF2-40B4-BE49-F238E27FC236}">
                <a16:creationId xmlns:a16="http://schemas.microsoft.com/office/drawing/2014/main" id="{01D5A7B1-38F0-4D70-9832-E275227551AB}"/>
              </a:ext>
            </a:extLst>
          </p:cNvPr>
          <p:cNvSpPr>
            <a:spLocks xmlns:a="http://schemas.openxmlformats.org/drawingml/2006/main" noGrp="1"/>
          </p:cNvSpPr>
          <p:nvPr/>
        </p:nvSpPr>
        <p:spPr>
          <a:xfrm xmlns:a="http://schemas.openxmlformats.org/drawingml/2006/main">
            <a:off x="685800" y="4257675"/>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Inspect Pod events, image tags and registry access</a:t>
            </a:r>
          </a:p>
        </p:txBody>
      </p:sp>
      <p:sp>
        <p:nvSpPr>
          <p:cNvPr id="10" name="Service routing failure">
            <a:extLst xmlns:a="http://schemas.openxmlformats.org/drawingml/2006/main">
              <a:ext uri="{FF2B5EF4-FFF2-40B4-BE49-F238E27FC236}">
                <a16:creationId xmlns:a16="http://schemas.microsoft.com/office/drawing/2014/main" id="{00F495EB-5D13-44BE-A615-8CAEACA688A3}"/>
              </a:ext>
            </a:extLst>
          </p:cNvPr>
          <p:cNvSpPr>
            <a:spLocks xmlns:a="http://schemas.openxmlformats.org/drawingml/2006/main" noGrp="1"/>
          </p:cNvSpPr>
          <p:nvPr/>
        </p:nvSpPr>
        <p:spPr>
          <a:xfrm xmlns:a="http://schemas.openxmlformats.org/drawingml/2006/main">
            <a:off x="6477000" y="3781425"/>
            <a:ext cx="5029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745B"/>
                </a:solidFill>
                <a:latin typeface="Liberation Sans"/>
                <a:ea typeface="Liberation Sans"/>
                <a:cs typeface="Liberation Sans"/>
              </a:defRPr>
            </a:defPPr>
          </a:lstStyle>
          <a:p xmlns:a="http://schemas.openxmlformats.org/drawingml/2006/main">
            <a:pPr algn="l">
              <a:defRPr sz="2175" b="1">
                <a:solidFill>
                  <a:srgbClr val="28745B"/>
                </a:solidFill>
                <a:latin typeface="Liberation Sans"/>
                <a:ea typeface="Liberation Sans"/>
                <a:cs typeface="Liberation Sans"/>
              </a:defRPr>
            </a:pPr>
            <a:r>
              <a:rPr sz="2175" b="1">
                <a:solidFill>
                  <a:srgbClr val="28745B"/>
                </a:solidFill>
                <a:latin typeface="Liberation Sans"/>
                <a:ea typeface="Liberation Sans"/>
                <a:cs typeface="Liberation Sans"/>
              </a:rPr>
              <a:t>Service routing failure</a:t>
            </a:r>
          </a:p>
        </p:txBody>
      </p:sp>
      <p:sp>
        <p:nvSpPr>
          <p:cNvPr id="11" name="Compare Service selectors, Pod labels and End">
            <a:extLst xmlns:a="http://schemas.openxmlformats.org/drawingml/2006/main">
              <a:ext uri="{FF2B5EF4-FFF2-40B4-BE49-F238E27FC236}">
                <a16:creationId xmlns:a16="http://schemas.microsoft.com/office/drawing/2014/main" id="{4329066E-4E7E-4DF7-939C-2514C27E7359}"/>
              </a:ext>
            </a:extLst>
          </p:cNvPr>
          <p:cNvSpPr>
            <a:spLocks xmlns:a="http://schemas.openxmlformats.org/drawingml/2006/main" noGrp="1"/>
          </p:cNvSpPr>
          <p:nvPr/>
        </p:nvSpPr>
        <p:spPr>
          <a:xfrm xmlns:a="http://schemas.openxmlformats.org/drawingml/2006/main">
            <a:off x="6477000" y="4257675"/>
            <a:ext cx="5029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C45"/>
                </a:solidFill>
                <a:latin typeface="Liberation Sans"/>
                <a:ea typeface="Liberation Sans"/>
                <a:cs typeface="Liberation Sans"/>
              </a:defRPr>
            </a:defPPr>
          </a:lstStyle>
          <a:p xmlns:a="http://schemas.openxmlformats.org/drawingml/2006/main">
            <a:pPr algn="l">
              <a:defRPr sz="2025" b="0">
                <a:solidFill>
                  <a:srgbClr val="344C45"/>
                </a:solidFill>
                <a:latin typeface="Liberation Sans"/>
                <a:ea typeface="Liberation Sans"/>
                <a:cs typeface="Liberation Sans"/>
              </a:defRPr>
            </a:pPr>
            <a:r>
              <a:rPr sz="2025" b="0">
                <a:solidFill>
                  <a:srgbClr val="344C45"/>
                </a:solidFill>
                <a:latin typeface="Liberation Sans"/>
                <a:ea typeface="Liberation Sans"/>
                <a:cs typeface="Liberation Sans"/>
              </a:rPr>
              <a:t>Compare Service selectors, Pod labels and EndpointSlices</a:t>
            </a:r>
          </a:p>
        </p:txBody>
      </p:sp>
      <p:sp>
        <p:nvSpPr>
          <p:cNvPr id="12" name="Live dashboards and failure recovery demonstr">
            <a:extLst xmlns:a="http://schemas.openxmlformats.org/drawingml/2006/main">
              <a:ext uri="{FF2B5EF4-FFF2-40B4-BE49-F238E27FC236}">
                <a16:creationId xmlns:a16="http://schemas.microsoft.com/office/drawing/2014/main" id="{D50F13CA-3A60-438D-A295-60E14E204323}"/>
              </a:ext>
            </a:extLst>
          </p:cNvPr>
          <p:cNvSpPr>
            <a:spLocks xmlns:a="http://schemas.openxmlformats.org/drawingml/2006/main" noGrp="1"/>
          </p:cNvSpPr>
          <p:nvPr/>
        </p:nvSpPr>
        <p:spPr>
          <a:xfrm xmlns:a="http://schemas.openxmlformats.org/drawingml/2006/main">
            <a:off x="685800" y="57054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8A5A24"/>
                </a:solidFill>
                <a:latin typeface="Liberation Sans"/>
                <a:ea typeface="Liberation Sans"/>
                <a:cs typeface="Liberation Sans"/>
              </a:defRPr>
            </a:defPPr>
          </a:lstStyle>
          <a:p xmlns:a="http://schemas.openxmlformats.org/drawingml/2006/main">
            <a:pPr algn="l">
              <a:defRPr sz="2025" b="0">
                <a:solidFill>
                  <a:srgbClr val="8A5A24"/>
                </a:solidFill>
                <a:latin typeface="Liberation Sans"/>
                <a:ea typeface="Liberation Sans"/>
                <a:cs typeface="Liberation Sans"/>
              </a:defRPr>
            </a:pPr>
            <a:r>
              <a:rPr sz="2025" b="0">
                <a:solidFill>
                  <a:srgbClr val="8A5A24"/>
                </a:solidFill>
                <a:latin typeface="Liberation Sans"/>
                <a:ea typeface="Liberation Sans"/>
                <a:cs typeface="Liberation Sans"/>
              </a:rPr>
              <a:t>Live dashboards and failure recovery demonstrations remain pending.</a:t>
            </a:r>
          </a:p>
        </p:txBody>
      </p:sp>
    </p:spTree>
    <p:extLst>
      <p:ext uri="{BB962C8B-B14F-4D97-AF65-F5344CB8AC3E}">
        <p14:creationId xmlns:p14="http://schemas.microsoft.com/office/powerpoint/2010/main" val="256152956"/>
      </p:ext>
    </p:extLst>
  </p:cSld>
</p:sld>
</file>

<file path=ppt/slides/slide11.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6" name="Project status">
            <a:extLst xmlns:a="http://schemas.openxmlformats.org/drawingml/2006/main">
              <a:ext uri="{FF2B5EF4-FFF2-40B4-BE49-F238E27FC236}">
                <a16:creationId xmlns:a16="http://schemas.microsoft.com/office/drawing/2014/main" id="{FDAA5B13-8F90-45D5-801D-532A5CB74CB5}"/>
              </a:ext>
            </a:extLst>
          </p:cNvPr>
          <p:cNvSpPr>
            <a:spLocks xmlns:a="http://schemas.openxmlformats.org/drawingml/2006/main" noGrp="1"/>
          </p:cNvSpPr>
          <p:nvPr/>
        </p:nvSpPr>
        <p:spPr>
          <a:xfrm xmlns:a="http://schemas.openxmlformats.org/drawingml/2006/main">
            <a:off x="685800" y="609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3C34"/>
                </a:solidFill>
                <a:latin typeface="Liberation Sans"/>
                <a:ea typeface="Liberation Sans"/>
                <a:cs typeface="Liberation Sans"/>
              </a:defRPr>
            </a:defPPr>
          </a:lstStyle>
          <a:p xmlns:a="http://schemas.openxmlformats.org/drawingml/2006/main">
            <a:pPr algn="l">
              <a:defRPr sz="3600" b="1">
                <a:solidFill>
                  <a:srgbClr val="173C34"/>
                </a:solidFill>
                <a:latin typeface="Liberation Sans"/>
                <a:ea typeface="Liberation Sans"/>
                <a:cs typeface="Liberation Sans"/>
              </a:defRPr>
            </a:pPr>
            <a:r>
              <a:rPr sz="3600" b="1">
                <a:solidFill>
                  <a:srgbClr val="173C34"/>
                </a:solidFill>
                <a:latin typeface="Liberation Sans"/>
                <a:ea typeface="Liberation Sans"/>
                <a:cs typeface="Liberation Sans"/>
              </a:rPr>
              <a:t>Project status</a:t>
            </a:r>
          </a:p>
        </p:txBody>
      </p:sp>
      <p:sp>
        <p:nvSpPr>
          <p:cNvPr id="2" name="QueueDesk">
            <a:extLst xmlns:a="http://schemas.openxmlformats.org/drawingml/2006/main">
              <a:ext uri="{FF2B5EF4-FFF2-40B4-BE49-F238E27FC236}">
                <a16:creationId xmlns:a16="http://schemas.microsoft.com/office/drawing/2014/main" id="{B85327E1-A61B-4B82-8BF6-7CB6B8D6C711}"/>
              </a:ext>
            </a:extLst>
          </p:cNvPr>
          <p:cNvSpPr>
            <a:spLocks xmlns:a="http://schemas.openxmlformats.org/drawingml/2006/main" noGrp="1"/>
          </p:cNvSpPr>
          <p:nvPr/>
        </p:nvSpPr>
        <p:spPr>
          <a:xfrm xmlns:a="http://schemas.openxmlformats.org/drawingml/2006/main">
            <a:off x="685800" y="63341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57A71"/>
                </a:solidFill>
                <a:latin typeface="Liberation Sans"/>
                <a:ea typeface="Liberation Sans"/>
                <a:cs typeface="Liberation Sans"/>
              </a:defRPr>
            </a:defPPr>
          </a:lstStyle>
          <a:p xmlns:a="http://schemas.openxmlformats.org/drawingml/2006/main">
            <a:pPr algn="l">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QueueDesk</a:t>
            </a:r>
          </a:p>
        </p:txBody>
      </p:sp>
      <p:sp>
        <p:nvSpPr>
          <p:cNvPr id="3" name="11">
            <a:extLst xmlns:a="http://schemas.openxmlformats.org/drawingml/2006/main">
              <a:ext uri="{FF2B5EF4-FFF2-40B4-BE49-F238E27FC236}">
                <a16:creationId xmlns:a16="http://schemas.microsoft.com/office/drawing/2014/main" id="{A2038A15-75B9-4E28-9D87-A72939EB7D6D}"/>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57A71"/>
                </a:solidFill>
                <a:latin typeface="Liberation Sans"/>
                <a:ea typeface="Liberation Sans"/>
                <a:cs typeface="Liberation Sans"/>
              </a:defRPr>
            </a:defPPr>
          </a:lstStyle>
          <a:p xmlns:a="http://schemas.openxmlformats.org/drawingml/2006/main">
            <a:pPr algn="r">
              <a:defRPr sz="1350" b="0">
                <a:solidFill>
                  <a:srgbClr val="657A71"/>
                </a:solidFill>
                <a:latin typeface="Liberation Sans"/>
                <a:ea typeface="Liberation Sans"/>
                <a:cs typeface="Liberation Sans"/>
              </a:defRPr>
            </a:pPr>
            <a:r>
              <a:rPr sz="1350" b="0">
                <a:solidFill>
                  <a:srgbClr val="657A71"/>
                </a:solidFill>
                <a:latin typeface="Liberation Sans"/>
                <a:ea typeface="Liberation Sans"/>
                <a:cs typeface="Liberation Sans"/>
              </a:rPr>
              <a:t>11</a:t>
            </a:r>
          </a:p>
        </p:txBody>
      </p:sp>
      <p:graphicFrame>
        <p:nvGraphicFramePr>
          <p:cNvPr id="4" name="">
            <a:extLst xmlns:a="http://schemas.openxmlformats.org/drawingml/2006/main">
              <a:ext uri="{FF2B5EF4-FFF2-40B4-BE49-F238E27FC236}">
                <a16:creationId xmlns:a16="http://schemas.microsoft.com/office/drawing/2014/main" id="{3348789E-CAE9-4874-B1B8-9420DC17CADE}"/>
              </a:ext>
            </a:extLst>
          </p:cNvPr>
          <p:cNvGraphicFramePr/>
          <p:nvPr/>
        </p:nvGraphicFramePr>
        <p:xfrm>
          <a:off xmlns:a="http://schemas.openxmlformats.org/drawingml/2006/main" x="685800" y="1666875"/>
          <a:ext xmlns:a="http://schemas.openxmlformats.org/drawingml/2006/main" cx="10820400" cy="3886200"/>
        </p:xfrm>
        <a:graphic xmlns:a="http://schemas.openxmlformats.org/drawingml/2006/main">
          <a:graphicData uri="http://schemas.openxmlformats.org/drawingml/2006/table">
            <a:tbl>
              <a:tblPr firstRow="1" bandRow="0"/>
              <a:tblGrid>
                <a:gridCol w="3238500"/>
                <a:gridCol w="7581900"/>
              </a:tblGrid>
              <a:tr h="647700">
                <a:tc>
                  <a:txBody>
                    <a:bodyPr/>
                    <a:lstStyle/>
                    <a:p>
                      <a:r>
                        <a:rPr sz="1875" b="1">
                          <a:solidFill>
                            <a:srgbClr val="FFFFFF"/>
                          </a:solidFill>
                          <a:latin typeface="Liberation Sans"/>
                          <a:ea typeface="Liberation Sans"/>
                          <a:cs typeface="Liberation Sans"/>
                        </a:rPr>
                        <a:t>Area</a:t>
                      </a:r>
                    </a:p>
                  </a:txBody>
                  <a:tcPr marL="91440" marR="91440" marT="45720" marB="45720" anchor="ctr">
                    <a:lnL w="7620">
                      <a:solidFill>
                        <a:srgbClr val="DDE6DF"/>
                      </a:solidFill>
                      <a:prstDash val="solid"/>
                    </a:lnL>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c>
                  <a:txBody>
                    <a:bodyPr/>
                    <a:lstStyle/>
                    <a:p>
                      <a:r>
                        <a:rPr sz="1875" b="1">
                          <a:solidFill>
                            <a:srgbClr val="FFFFFF"/>
                          </a:solidFill>
                          <a:latin typeface="Liberation Sans"/>
                          <a:ea typeface="Liberation Sans"/>
                          <a:cs typeface="Liberation Sans"/>
                        </a:rPr>
                        <a:t>Current result</a:t>
                      </a:r>
                    </a:p>
                  </a:txBody>
                  <a:tcPr marL="91440" marR="91440" marT="45720" marB="45720" anchor="ctr">
                    <a:lnR w="7620">
                      <a:solidFill>
                        <a:srgbClr val="DDE6DF"/>
                      </a:solidFill>
                      <a:prstDash val="solid"/>
                    </a:lnR>
                    <a:lnT w="7620">
                      <a:solidFill>
                        <a:srgbClr val="DDE6DF"/>
                      </a:solidFill>
                      <a:prstDash val="solid"/>
                    </a:lnT>
                    <a:lnB w="7620">
                      <a:solidFill>
                        <a:srgbClr val="DDE6DF"/>
                      </a:solidFill>
                      <a:prstDash val="solid"/>
                    </a:lnB>
                    <a:solidFill>
                      <a:srgbClr val="173C34"/>
                    </a:solidFill>
                  </a:tcPr>
                </a:tc>
              </a:tr>
              <a:tr h="647700">
                <a:tc>
                  <a:txBody>
                    <a:bodyPr/>
                    <a:lstStyle/>
                    <a:p>
                      <a:r>
                        <a:rPr sz="1875" b="1">
                          <a:solidFill>
                            <a:srgbClr val="344C45"/>
                          </a:solidFill>
                          <a:latin typeface="Liberation Sans"/>
                          <a:ea typeface="Liberation Sans"/>
                          <a:cs typeface="Liberation Sans"/>
                        </a:rPr>
                        <a:t>Application and Docker</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Working local stack and ticket API</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r h="647700">
                <a:tc>
                  <a:txBody>
                    <a:bodyPr/>
                    <a:lstStyle/>
                    <a:p>
                      <a:r>
                        <a:rPr sz="1875" b="1">
                          <a:solidFill>
                            <a:srgbClr val="344C45"/>
                          </a:solidFill>
                          <a:latin typeface="Liberation Sans"/>
                          <a:ea typeface="Liberation Sans"/>
                          <a:cs typeface="Liberation Sans"/>
                        </a:rPr>
                        <a:t>Tests and container security</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Passing tests and successful scan/publication workflow</a:t>
                      </a:r>
                    </a:p>
                  </a:txBody>
                  <a:tcPr marL="91440" marR="91440" marT="45720" marB="45720" anchor="ctr">
                    <a:lnR w="7620">
                      <a:solidFill>
                        <a:srgbClr val="DDE6DF"/>
                      </a:solidFill>
                      <a:prstDash val="solid"/>
                    </a:lnR>
                    <a:lnB w="7620">
                      <a:solidFill>
                        <a:srgbClr val="DDE6DF"/>
                      </a:solidFill>
                      <a:prstDash val="solid"/>
                    </a:lnB>
                    <a:solidFill>
                      <a:srgbClr val="EDF2ED"/>
                    </a:solidFill>
                  </a:tcPr>
                </a:tc>
              </a:tr>
              <a:tr h="647700">
                <a:tc>
                  <a:txBody>
                    <a:bodyPr/>
                    <a:lstStyle/>
                    <a:p>
                      <a:r>
                        <a:rPr sz="1875" b="1">
                          <a:solidFill>
                            <a:srgbClr val="344C45"/>
                          </a:solidFill>
                          <a:latin typeface="Liberation Sans"/>
                          <a:ea typeface="Liberation Sans"/>
                          <a:cs typeface="Liberation Sans"/>
                        </a:rPr>
                        <a:t>Terraform and Helm</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Configuration complete, real deployment pending</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r h="647700">
                <a:tc>
                  <a:txBody>
                    <a:bodyPr/>
                    <a:lstStyle/>
                    <a:p>
                      <a:r>
                        <a:rPr sz="1875" b="1">
                          <a:solidFill>
                            <a:srgbClr val="344C45"/>
                          </a:solidFill>
                          <a:latin typeface="Liberation Sans"/>
                          <a:ea typeface="Liberation Sans"/>
                          <a:cs typeface="Liberation Sans"/>
                        </a:rPr>
                        <a:t>Live monitoring and scaling</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EDF2ED"/>
                    </a:solidFill>
                  </a:tcPr>
                </a:tc>
                <a:tc>
                  <a:txBody>
                    <a:bodyPr/>
                    <a:lstStyle/>
                    <a:p>
                      <a:r>
                        <a:rPr sz="1875" b="0">
                          <a:solidFill>
                            <a:srgbClr val="344C45"/>
                          </a:solidFill>
                          <a:latin typeface="Liberation Sans"/>
                          <a:ea typeface="Liberation Sans"/>
                          <a:cs typeface="Liberation Sans"/>
                        </a:rPr>
                        <a:t>Configuration included, runtime evidence pending</a:t>
                      </a:r>
                    </a:p>
                  </a:txBody>
                  <a:tcPr marL="91440" marR="91440" marT="45720" marB="45720" anchor="ctr">
                    <a:lnR w="7620">
                      <a:solidFill>
                        <a:srgbClr val="DDE6DF"/>
                      </a:solidFill>
                      <a:prstDash val="solid"/>
                    </a:lnR>
                    <a:lnB w="7620">
                      <a:solidFill>
                        <a:srgbClr val="DDE6DF"/>
                      </a:solidFill>
                      <a:prstDash val="solid"/>
                    </a:lnB>
                    <a:solidFill>
                      <a:srgbClr val="EDF2ED"/>
                    </a:solidFill>
                  </a:tcPr>
                </a:tc>
              </a:tr>
              <a:tr h="647700">
                <a:tc>
                  <a:txBody>
                    <a:bodyPr/>
                    <a:lstStyle/>
                    <a:p>
                      <a:r>
                        <a:rPr sz="1875" b="1">
                          <a:solidFill>
                            <a:srgbClr val="344C45"/>
                          </a:solidFill>
                          <a:latin typeface="Liberation Sans"/>
                          <a:ea typeface="Liberation Sans"/>
                          <a:cs typeface="Liberation Sans"/>
                        </a:rPr>
                        <a:t>Final submission</a:t>
                      </a:r>
                    </a:p>
                  </a:txBody>
                  <a:tcPr marL="91440" marR="91440" marT="45720" marB="45720" anchor="ctr">
                    <a:lnL w="7620">
                      <a:solidFill>
                        <a:srgbClr val="DDE6DF"/>
                      </a:solidFill>
                      <a:prstDash val="solid"/>
                    </a:lnL>
                    <a:lnR w="7620">
                      <a:solidFill>
                        <a:srgbClr val="DDE6DF"/>
                      </a:solidFill>
                      <a:prstDash val="solid"/>
                    </a:lnR>
                    <a:lnB w="7620">
                      <a:solidFill>
                        <a:srgbClr val="DDE6DF"/>
                      </a:solidFill>
                      <a:prstDash val="solid"/>
                    </a:lnB>
                    <a:solidFill>
                      <a:srgbClr val="FFFFFF"/>
                    </a:solidFill>
                  </a:tcPr>
                </a:tc>
                <a:tc>
                  <a:txBody>
                    <a:bodyPr/>
                    <a:lstStyle/>
                    <a:p>
                      <a:r>
                        <a:rPr sz="1875" b="0">
                          <a:solidFill>
                            <a:srgbClr val="344C45"/>
                          </a:solidFill>
                          <a:latin typeface="Liberation Sans"/>
                          <a:ea typeface="Liberation Sans"/>
                          <a:cs typeface="Liberation Sans"/>
                        </a:rPr>
                        <a:t>Demo recording available, remaining evidence to collect</a:t>
                      </a:r>
                    </a:p>
                  </a:txBody>
                  <a:tcPr marL="91440" marR="91440" marT="45720" marB="45720" anchor="ctr">
                    <a:lnR w="7620">
                      <a:solidFill>
                        <a:srgbClr val="DDE6DF"/>
                      </a:solidFill>
                      <a:prstDash val="solid"/>
                    </a:lnR>
                    <a:lnB w="7620">
                      <a:solidFill>
                        <a:srgbClr val="DDE6DF"/>
                      </a:solidFill>
                      <a:prstDash val="solid"/>
                    </a:lnB>
                    <a:solidFill>
                      <a:srgbClr val="FFFFFF"/>
                    </a:solidFill>
                  </a:tcPr>
                </a:tc>
              </a:tr>
            </a:tbl>
          </a:graphicData>
        </a:graphic>
      </p:graphicFrame>
      <p:sp>
        <p:nvSpPr>
          <p:cNvPr id="5" name="Next milestone: a verified AWS deployment wit">
            <a:extLst xmlns:a="http://schemas.openxmlformats.org/drawingml/2006/main">
              <a:ext uri="{FF2B5EF4-FFF2-40B4-BE49-F238E27FC236}">
                <a16:creationId xmlns:a16="http://schemas.microsoft.com/office/drawing/2014/main" id="{DB5371EE-168E-441E-955A-E7A2E05284C4}"/>
              </a:ext>
            </a:extLst>
          </p:cNvPr>
          <p:cNvSpPr>
            <a:spLocks xmlns:a="http://schemas.openxmlformats.org/drawingml/2006/main" noGrp="1"/>
          </p:cNvSpPr>
          <p:nvPr/>
        </p:nvSpPr>
        <p:spPr>
          <a:xfrm xmlns:a="http://schemas.openxmlformats.org/drawingml/2006/main">
            <a:off x="685800" y="58007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745B"/>
                </a:solidFill>
                <a:latin typeface="Liberation Sans"/>
                <a:ea typeface="Liberation Sans"/>
                <a:cs typeface="Liberation Sans"/>
              </a:defRPr>
            </a:defPPr>
          </a:lstStyle>
          <a:p xmlns:a="http://schemas.openxmlformats.org/drawingml/2006/main">
            <a:pPr algn="l">
              <a:defRPr sz="2025" b="0">
                <a:solidFill>
                  <a:srgbClr val="28745B"/>
                </a:solidFill>
                <a:latin typeface="Liberation Sans"/>
                <a:ea typeface="Liberation Sans"/>
                <a:cs typeface="Liberation Sans"/>
              </a:defRPr>
            </a:pPr>
            <a:r>
              <a:rPr sz="2025" b="0">
                <a:solidFill>
                  <a:srgbClr val="28745B"/>
                </a:solidFill>
                <a:latin typeface="Liberation Sans"/>
                <a:ea typeface="Liberation Sans"/>
                <a:cs typeface="Liberation Sans"/>
              </a:rPr>
              <a:t>Next milestone: a verified AWS deployment with screenshots and cleanup.</a:t>
            </a:r>
          </a:p>
        </p:txBody>
      </p:sp>
    </p:spTree>
    <p:extLst>
      <p:ext uri="{BB962C8B-B14F-4D97-AF65-F5344CB8AC3E}">
        <p14:creationId xmlns:p14="http://schemas.microsoft.com/office/powerpoint/2010/main" val="1022659125"/>
      </p:ext>
    </p:extLst>
  </p:cSld>
</p:sld>
</file>

<file path=ppt/slides/slide12.xml><?xml version="1.0" encoding="utf-8"?>
<p:sld xmlns:p="http://schemas.openxmlformats.org/presentationml/2006/main">
  <p:cSld>
    <p:bg>
      <p:bgPr>
        <a:solidFill xmlns:a="http://schemas.openxmlformats.org/drawingml/2006/main">
          <a:srgbClr val="173C34"/>
        </a:solidFill>
      </p:bgPr>
    </p:bg>
    <p:spTree>
      <p:nvGrpSpPr>
        <p:cNvPr id="1" name=""/>
        <p:cNvGrpSpPr/>
        <p:nvPr/>
      </p:nvGrpSpPr>
      <p:grpSpPr>
        <a:xfrm xmlns:a="http://schemas.openxmlformats.org/drawingml/2006/main"/>
      </p:grpSpPr>
      <p:sp>
        <p:nvSpPr>
          <p:cNvPr id="9" name="Demo recording">
            <a:extLst xmlns:a="http://schemas.openxmlformats.org/drawingml/2006/main">
              <a:ext uri="{FF2B5EF4-FFF2-40B4-BE49-F238E27FC236}">
                <a16:creationId xmlns:a16="http://schemas.microsoft.com/office/drawing/2014/main" id="{5C643D5D-1557-4204-8753-4702C40E1ECF}"/>
              </a:ext>
            </a:extLst>
          </p:cNvPr>
          <p:cNvSpPr>
            <a:spLocks xmlns:a="http://schemas.openxmlformats.org/drawingml/2006/main" noGrp="1"/>
          </p:cNvSpPr>
          <p:nvPr/>
        </p:nvSpPr>
        <p:spPr>
          <a:xfrm xmlns:a="http://schemas.openxmlformats.org/drawingml/2006/main">
            <a:off x="685800" y="609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Liberation Sans"/>
                <a:ea typeface="Liberation Sans"/>
                <a:cs typeface="Liberation Sans"/>
              </a:defRPr>
            </a:defPPr>
          </a:lstStyle>
          <a:p xmlns:a="http://schemas.openxmlformats.org/drawingml/2006/main">
            <a:pPr algn="l">
              <a:defRPr sz="3600" b="1">
                <a:solidFill>
                  <a:srgbClr val="FFFFFF"/>
                </a:solidFill>
                <a:latin typeface="Liberation Sans"/>
                <a:ea typeface="Liberation Sans"/>
                <a:cs typeface="Liberation Sans"/>
              </a:defRPr>
            </a:pPr>
            <a:r>
              <a:rPr sz="3600" b="1">
                <a:solidFill>
                  <a:srgbClr val="FFFFFF"/>
                </a:solidFill>
                <a:latin typeface="Liberation Sans"/>
                <a:ea typeface="Liberation Sans"/>
                <a:cs typeface="Liberation Sans"/>
              </a:rPr>
              <a:t>Demo recording</a:t>
            </a:r>
          </a:p>
        </p:txBody>
      </p:sp>
      <p:sp>
        <p:nvSpPr>
          <p:cNvPr id="2" name="QueueDesk">
            <a:extLst xmlns:a="http://schemas.openxmlformats.org/drawingml/2006/main">
              <a:ext uri="{FF2B5EF4-FFF2-40B4-BE49-F238E27FC236}">
                <a16:creationId xmlns:a16="http://schemas.microsoft.com/office/drawing/2014/main" id="{AC945A84-3702-4E9B-AB2C-2D7B62181F73}"/>
              </a:ext>
            </a:extLst>
          </p:cNvPr>
          <p:cNvSpPr>
            <a:spLocks xmlns:a="http://schemas.openxmlformats.org/drawingml/2006/main" noGrp="1"/>
          </p:cNvSpPr>
          <p:nvPr/>
        </p:nvSpPr>
        <p:spPr>
          <a:xfrm xmlns:a="http://schemas.openxmlformats.org/drawingml/2006/main">
            <a:off x="685800" y="63341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AFD5BC"/>
                </a:solidFill>
                <a:latin typeface="Liberation Sans"/>
                <a:ea typeface="Liberation Sans"/>
                <a:cs typeface="Liberation Sans"/>
              </a:defRPr>
            </a:defPPr>
          </a:lstStyle>
          <a:p xmlns:a="http://schemas.openxmlformats.org/drawingml/2006/main">
            <a:pPr algn="l">
              <a:defRPr sz="1350" b="0">
                <a:solidFill>
                  <a:srgbClr val="AFD5BC"/>
                </a:solidFill>
                <a:latin typeface="Liberation Sans"/>
                <a:ea typeface="Liberation Sans"/>
                <a:cs typeface="Liberation Sans"/>
              </a:defRPr>
            </a:pPr>
            <a:r>
              <a:rPr sz="1350" b="0">
                <a:solidFill>
                  <a:srgbClr val="AFD5BC"/>
                </a:solidFill>
                <a:latin typeface="Liberation Sans"/>
                <a:ea typeface="Liberation Sans"/>
                <a:cs typeface="Liberation Sans"/>
              </a:rPr>
              <a:t>QueueDesk</a:t>
            </a:r>
          </a:p>
        </p:txBody>
      </p:sp>
      <p:sp>
        <p:nvSpPr>
          <p:cNvPr id="3" name="12">
            <a:extLst xmlns:a="http://schemas.openxmlformats.org/drawingml/2006/main">
              <a:ext uri="{FF2B5EF4-FFF2-40B4-BE49-F238E27FC236}">
                <a16:creationId xmlns:a16="http://schemas.microsoft.com/office/drawing/2014/main" id="{E0EC6599-E482-409E-9291-A0A1DAB5CA5C}"/>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FD5BC"/>
                </a:solidFill>
                <a:latin typeface="Liberation Sans"/>
                <a:ea typeface="Liberation Sans"/>
                <a:cs typeface="Liberation Sans"/>
              </a:defRPr>
            </a:defPPr>
          </a:lstStyle>
          <a:p xmlns:a="http://schemas.openxmlformats.org/drawingml/2006/main">
            <a:pPr algn="r">
              <a:defRPr sz="1350" b="0">
                <a:solidFill>
                  <a:srgbClr val="AFD5BC"/>
                </a:solidFill>
                <a:latin typeface="Liberation Sans"/>
                <a:ea typeface="Liberation Sans"/>
                <a:cs typeface="Liberation Sans"/>
              </a:defRPr>
            </a:pPr>
            <a:r>
              <a:rPr sz="1350" b="0">
                <a:solidFill>
                  <a:srgbClr val="AFD5BC"/>
                </a:solidFill>
                <a:latin typeface="Liberation Sans"/>
                <a:ea typeface="Liberation Sans"/>
                <a:cs typeface="Liberation Sans"/>
              </a:rPr>
              <a:t>12</a:t>
            </a:r>
          </a:p>
        </p:txBody>
      </p:sp>
      <p:sp>
        <p:nvSpPr>
          <p:cNvPr id="4" name="QueueDesk walkthrough">
            <a:extLst xmlns:a="http://schemas.openxmlformats.org/drawingml/2006/main">
              <a:ext uri="{FF2B5EF4-FFF2-40B4-BE49-F238E27FC236}">
                <a16:creationId xmlns:a16="http://schemas.microsoft.com/office/drawing/2014/main" id="{D49340AC-2F99-49F6-A00E-4AD92733750A}"/>
              </a:ext>
            </a:extLst>
          </p:cNvPr>
          <p:cNvSpPr>
            <a:spLocks xmlns:a="http://schemas.openxmlformats.org/drawingml/2006/main" noGrp="1"/>
          </p:cNvSpPr>
          <p:nvPr/>
        </p:nvSpPr>
        <p:spPr>
          <a:xfrm xmlns:a="http://schemas.openxmlformats.org/drawingml/2006/main">
            <a:off x="685800" y="17621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Liberation Sans"/>
                <a:ea typeface="Liberation Sans"/>
                <a:cs typeface="Liberation Sans"/>
              </a:defRPr>
            </a:defPPr>
          </a:lstStyle>
          <a:p xmlns:a="http://schemas.openxmlformats.org/drawingml/2006/main">
            <a:pPr algn="l">
              <a:defRPr sz="3600" b="1">
                <a:solidFill>
                  <a:srgbClr val="FFFFFF"/>
                </a:solidFill>
                <a:latin typeface="Liberation Sans"/>
                <a:ea typeface="Liberation Sans"/>
                <a:cs typeface="Liberation Sans"/>
              </a:defRPr>
            </a:pPr>
            <a:r>
              <a:rPr sz="3600" b="1">
                <a:solidFill>
                  <a:srgbClr val="FFFFFF"/>
                </a:solidFill>
                <a:latin typeface="Liberation Sans"/>
                <a:ea typeface="Liberation Sans"/>
                <a:cs typeface="Liberation Sans"/>
              </a:rPr>
              <a:t>QueueDesk walkthrough</a:t>
            </a:r>
          </a:p>
        </p:txBody>
      </p:sp>
      <p:sp>
        <p:nvSpPr>
          <p:cNvPr id="5" name="Watch the demo on Loom">
            <a:extLst xmlns:a="http://schemas.openxmlformats.org/drawingml/2006/main">
              <a:ext uri="{FF2B5EF4-FFF2-40B4-BE49-F238E27FC236}">
                <a16:creationId xmlns:a16="http://schemas.microsoft.com/office/drawing/2014/main" id="{A9525056-2F24-4820-A23B-B79FF195EBA2}"/>
              </a:ext>
            </a:extLst>
          </p:cNvPr>
          <p:cNvSpPr>
            <a:spLocks xmlns:a="http://schemas.openxmlformats.org/drawingml/2006/main" noGrp="1"/>
          </p:cNvSpPr>
          <p:nvPr/>
        </p:nvSpPr>
        <p:spPr>
          <a:xfrm xmlns:a="http://schemas.openxmlformats.org/drawingml/2006/main">
            <a:off x="685800" y="29241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FD5BC"/>
                </a:solidFill>
                <a:latin typeface="Liberation Sans"/>
                <a:ea typeface="Liberation Sans"/>
                <a:cs typeface="Liberation Sans"/>
              </a:defRPr>
            </a:defPPr>
          </a:lstStyle>
          <a:p xmlns:a="http://schemas.openxmlformats.org/drawingml/2006/main">
            <a:pPr algn="l">
              <a:defRPr sz="2625" b="1">
                <a:solidFill>
                  <a:srgbClr val="AFD5BC"/>
                </a:solidFill>
                <a:latin typeface="Liberation Sans"/>
                <a:ea typeface="Liberation Sans"/>
                <a:cs typeface="Liberation Sans"/>
              </a:defRPr>
            </a:pPr>
            <a:r>
              <a:rPr sz="2625" b="1">
                <a:solidFill>
                  <a:srgbClr val="AFD5BC"/>
                </a:solidFill>
                <a:latin typeface="Liberation Sans"/>
                <a:ea typeface="Liberation Sans"/>
                <a:cs typeface="Liberation Sans"/>
                <a:hlinkClick xmlns:r="http://schemas.openxmlformats.org/officeDocument/2006/relationships" r:id="Rd40f7217bd294517"/>
              </a:rPr>
              <a:t>Watch the demo on Loom</a:t>
            </a:r>
          </a:p>
        </p:txBody>
      </p:sp>
      <p:sp>
        <p:nvSpPr>
          <p:cNvPr id="6" name="https://www.loom.com/share/e109ef51b28045adab">
            <a:extLst xmlns:a="http://schemas.openxmlformats.org/drawingml/2006/main">
              <a:ext uri="{FF2B5EF4-FFF2-40B4-BE49-F238E27FC236}">
                <a16:creationId xmlns:a16="http://schemas.microsoft.com/office/drawing/2014/main" id="{0EC79306-ABD4-42A4-A9BD-0F9CC58DF72A}"/>
              </a:ext>
            </a:extLst>
          </p:cNvPr>
          <p:cNvSpPr>
            <a:spLocks xmlns:a="http://schemas.openxmlformats.org/drawingml/2006/main" noGrp="1"/>
          </p:cNvSpPr>
          <p:nvPr/>
        </p:nvSpPr>
        <p:spPr>
          <a:xfrm xmlns:a="http://schemas.openxmlformats.org/drawingml/2006/main">
            <a:off x="685800" y="35814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Liberation Sans"/>
                <a:ea typeface="Liberation Sans"/>
                <a:cs typeface="Liberation Sans"/>
              </a:defRPr>
            </a:defPPr>
          </a:lstStyle>
          <a:p xmlns:a="http://schemas.openxmlformats.org/drawingml/2006/main">
            <a:pPr algn="l">
              <a:defRPr sz="1800" b="0">
                <a:solidFill>
                  <a:srgbClr val="FFFFFF"/>
                </a:solidFill>
                <a:latin typeface="Liberation Sans"/>
                <a:ea typeface="Liberation Sans"/>
                <a:cs typeface="Liberation Sans"/>
              </a:defRPr>
            </a:pPr>
            <a:r>
              <a:rPr sz="1800" b="0">
                <a:solidFill>
                  <a:srgbClr val="FFFFFF"/>
                </a:solidFill>
                <a:latin typeface="Liberation Sans"/>
                <a:ea typeface="Liberation Sans"/>
                <a:cs typeface="Liberation Sans"/>
                <a:hlinkClick xmlns:r="http://schemas.openxmlformats.org/officeDocument/2006/relationships" r:id="Rf67ec43588e74001"/>
              </a:rPr>
              <a:t>https://www.loom.com/share/e109ef51b28045adabcc391b8813617a</a:t>
            </a:r>
          </a:p>
        </p:txBody>
      </p:sp>
      <p:sp>
        <p:nvSpPr>
          <p:cNvPr id="7" name="Project repository">
            <a:extLst xmlns:a="http://schemas.openxmlformats.org/drawingml/2006/main">
              <a:ext uri="{FF2B5EF4-FFF2-40B4-BE49-F238E27FC236}">
                <a16:creationId xmlns:a16="http://schemas.microsoft.com/office/drawing/2014/main" id="{22EFD31B-E003-4F04-9867-6AA481641A04}"/>
              </a:ext>
            </a:extLst>
          </p:cNvPr>
          <p:cNvSpPr>
            <a:spLocks xmlns:a="http://schemas.openxmlformats.org/drawingml/2006/main" noGrp="1"/>
          </p:cNvSpPr>
          <p:nvPr/>
        </p:nvSpPr>
        <p:spPr>
          <a:xfrm xmlns:a="http://schemas.openxmlformats.org/drawingml/2006/main">
            <a:off x="685800" y="46577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FD5BC"/>
                </a:solidFill>
                <a:latin typeface="Liberation Sans"/>
                <a:ea typeface="Liberation Sans"/>
                <a:cs typeface="Liberation Sans"/>
              </a:defRPr>
            </a:defPPr>
          </a:lstStyle>
          <a:p xmlns:a="http://schemas.openxmlformats.org/drawingml/2006/main">
            <a:pPr algn="l">
              <a:defRPr sz="2325" b="1">
                <a:solidFill>
                  <a:srgbClr val="AFD5BC"/>
                </a:solidFill>
                <a:latin typeface="Liberation Sans"/>
                <a:ea typeface="Liberation Sans"/>
                <a:cs typeface="Liberation Sans"/>
              </a:defRPr>
            </a:pPr>
            <a:r>
              <a:rPr sz="2325" b="1">
                <a:solidFill>
                  <a:srgbClr val="AFD5BC"/>
                </a:solidFill>
                <a:latin typeface="Liberation Sans"/>
                <a:ea typeface="Liberation Sans"/>
                <a:cs typeface="Liberation Sans"/>
                <a:hlinkClick xmlns:r="http://schemas.openxmlformats.org/officeDocument/2006/relationships" r:id="R1b29d9b7e47f4852"/>
              </a:rPr>
              <a:t>Project repository</a:t>
            </a:r>
          </a:p>
        </p:txBody>
      </p:sp>
      <p:sp>
        <p:nvSpPr>
          <p:cNvPr id="8" name="github.com/chinna-328/Devops-capstone-project">
            <a:extLst xmlns:a="http://schemas.openxmlformats.org/drawingml/2006/main">
              <a:ext uri="{FF2B5EF4-FFF2-40B4-BE49-F238E27FC236}">
                <a16:creationId xmlns:a16="http://schemas.microsoft.com/office/drawing/2014/main" id="{E62429EB-055A-409E-AB82-4F282AAFF795}"/>
              </a:ext>
            </a:extLst>
          </p:cNvPr>
          <p:cNvSpPr>
            <a:spLocks xmlns:a="http://schemas.openxmlformats.org/drawingml/2006/main" noGrp="1"/>
          </p:cNvSpPr>
          <p:nvPr/>
        </p:nvSpPr>
        <p:spPr>
          <a:xfrm xmlns:a="http://schemas.openxmlformats.org/drawingml/2006/main">
            <a:off x="685800" y="52006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iberation Sans"/>
                <a:ea typeface="Liberation Sans"/>
                <a:cs typeface="Liberation Sans"/>
              </a:defRPr>
            </a:defPPr>
          </a:lstStyle>
          <a:p xmlns:a="http://schemas.openxmlformats.org/drawingml/2006/main">
            <a:pPr algn="l">
              <a:defRPr sz="1950" b="0">
                <a:solidFill>
                  <a:srgbClr val="FFFFFF"/>
                </a:solidFill>
                <a:latin typeface="Liberation Sans"/>
                <a:ea typeface="Liberation Sans"/>
                <a:cs typeface="Liberation Sans"/>
              </a:defRPr>
            </a:pPr>
            <a:r>
              <a:rPr sz="1950" b="0">
                <a:solidFill>
                  <a:srgbClr val="FFFFFF"/>
                </a:solidFill>
                <a:latin typeface="Liberation Sans"/>
                <a:ea typeface="Liberation Sans"/>
                <a:cs typeface="Liberation Sans"/>
                <a:hlinkClick xmlns:r="http://schemas.openxmlformats.org/officeDocument/2006/relationships" r:id="R8200e7c8c8944ebb"/>
              </a:rPr>
              <a:t>github.com/chinna-328/Devops-capstone-project</a:t>
            </a:r>
          </a:p>
        </p:txBody>
      </p:sp>
    </p:spTree>
    <p:extLst>
      <p:ext uri="{BB962C8B-B14F-4D97-AF65-F5344CB8AC3E}">
        <p14:creationId xmlns:p14="http://schemas.microsoft.com/office/powerpoint/2010/main" val="16198959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2026-10-18T03:10:23.8430000Z</dcterms:created>
  <dcterms:modified xsi:type="dcterms:W3CDTF">2026-10-18T03:10:23.8430000Z</dcterms:modified>
</coreProperties>
</file>